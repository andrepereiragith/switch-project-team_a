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5"/>
  </p:notesMasterIdLst>
  <p:sldIdLst>
    <p:sldId id="282" r:id="rId2"/>
    <p:sldId id="271" r:id="rId3"/>
    <p:sldId id="285" r:id="rId4"/>
    <p:sldId id="286" r:id="rId5"/>
    <p:sldId id="287" r:id="rId6"/>
    <p:sldId id="288" r:id="rId7"/>
    <p:sldId id="310" r:id="rId8"/>
    <p:sldId id="269" r:id="rId9"/>
    <p:sldId id="312" r:id="rId10"/>
    <p:sldId id="302" r:id="rId11"/>
    <p:sldId id="307" r:id="rId12"/>
    <p:sldId id="308" r:id="rId13"/>
    <p:sldId id="314" r:id="rId14"/>
    <p:sldId id="315" r:id="rId15"/>
    <p:sldId id="313" r:id="rId16"/>
    <p:sldId id="306" r:id="rId17"/>
    <p:sldId id="316" r:id="rId18"/>
    <p:sldId id="270" r:id="rId19"/>
    <p:sldId id="272" r:id="rId20"/>
    <p:sldId id="317" r:id="rId21"/>
    <p:sldId id="294" r:id="rId22"/>
    <p:sldId id="300" r:id="rId23"/>
    <p:sldId id="298" r:id="rId24"/>
  </p:sldIdLst>
  <p:sldSz cx="9144000" cy="5143500" type="screen16x9"/>
  <p:notesSz cx="6858000" cy="9144000"/>
  <p:embeddedFontLst>
    <p:embeddedFont>
      <p:font typeface="Arimo" panose="020B0604020202020204" pitchFamily="34" charset="0"/>
      <p:regular r:id="rId26"/>
      <p:bold r:id="rId27"/>
      <p:italic r:id="rId28"/>
      <p:boldItalic r:id="rId29"/>
    </p:embeddedFont>
    <p:embeddedFont>
      <p:font typeface="Krona One" panose="02010605030500060004" pitchFamily="2" charset="77"/>
      <p:regular r:id="rId30"/>
    </p:embeddedFont>
    <p:embeddedFont>
      <p:font typeface="Krub" pitchFamily="2" charset="-34"/>
      <p:regular r:id="rId31"/>
      <p:bold r:id="rId32"/>
      <p:italic r:id="rId33"/>
      <p:boldItalic r:id="rId34"/>
    </p:embeddedFont>
    <p:embeddedFont>
      <p:font typeface="Krub Light" panose="00000400000000000000" pitchFamily="2" charset="-34"/>
      <p:regular r:id="rId35"/>
      <p:italic r:id="rId36"/>
    </p:embeddedFont>
    <p:embeddedFont>
      <p:font typeface="Krub SemiBold" panose="00000700000000000000" pitchFamily="2" charset="-34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3B40"/>
    <a:srgbClr val="000000"/>
    <a:srgbClr val="00FDFF"/>
    <a:srgbClr val="A44C78"/>
    <a:srgbClr val="FF9900"/>
    <a:srgbClr val="CDCDCD"/>
    <a:srgbClr val="A361E8"/>
    <a:srgbClr val="542296"/>
    <a:srgbClr val="167222"/>
    <a:srgbClr val="B164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B2A14C-317D-42E1-B773-244A062D6189}">
  <a:tblStyle styleId="{80B2A14C-317D-42E1-B773-244A062D61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3"/>
    <p:restoredTop sz="95890"/>
  </p:normalViewPr>
  <p:slideViewPr>
    <p:cSldViewPr snapToGrid="0">
      <p:cViewPr>
        <p:scale>
          <a:sx n="171" d="100"/>
          <a:sy n="171" d="100"/>
        </p:scale>
        <p:origin x="640" y="5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T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068487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757C0-15D8-6585-185C-052A183AF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6AE1C-AB29-38D7-9D8D-E2F9D98A28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AB4F1D-D265-1778-7B2A-B1386D4D5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4180948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23721-F15F-86D9-CC0C-7A946A391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466AE-6D9E-E680-9441-F72638A7B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9262B-7005-7B9A-48BF-F2D7A45AD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643055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7CF81-C079-3BE2-F89B-38C58F08D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AFEBA-F7DD-6B7F-2E3B-58D741644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81F1C-631D-DAC4-DBE0-0A4C096BA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960031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673FD-9BDF-64D8-C45E-564FD93D6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0DAFA-9D0E-24C3-11CD-B14C902E2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F7625-6BDE-0E4B-D013-621F86A0C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4012656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53892-5361-0435-523F-8205A9ED9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A250C-AF9D-5096-52EF-C27E649A3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79603B-0705-4E45-A5B5-F825F9A94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6999760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E9B38-B0F4-A6C4-2DEE-97B50CD58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1A70D-BD4D-0BEB-91EF-82788F6ED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C20A39-FB32-8A76-BE5A-2EA94D47B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783204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F4C71-C1B8-2DB6-CE21-31A62D61E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BD6B3-43E8-43BF-5B03-A844BA080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30DD0-7AAF-F5B5-F1AC-964EBE945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614030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53261-39A1-D8CA-6C06-3AB6E860A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CC502-2617-2C07-4AF8-2EF67AAD4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B351C-3623-048D-91CB-BB50BD536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0176859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65DF0-A372-D93A-EB8E-9C9EF7F81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16ED8-0580-1531-30EE-194586053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325249-6B45-371A-E31F-F7F5EB6E9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998825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3EC97-CF20-9E7A-FDF4-37D24585A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73028-C481-24B5-06D8-5CD999E92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E3CAF-0B24-7CD2-9114-1B704B9D5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854725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2624466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0828B-6066-66D6-90AC-2D61529AB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627B4-4147-140C-65F7-9DD496EF6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B9022-D909-174D-F5D7-21BC32349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462285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4975" y="445025"/>
            <a:ext cx="767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rona One"/>
              <a:buNone/>
              <a:defRPr sz="24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4975" y="1152475"/>
            <a:ext cx="767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microsoft.com/office/2007/relationships/hdphoto" Target="../media/hdphoto5.wdp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6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6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6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7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7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7.wdp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microsoft.com/office/2007/relationships/hdphoto" Target="../media/hdphoto5.wdp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microsoft.com/office/2007/relationships/hdphoto" Target="../media/hdphoto5.wdp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8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8.wdp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1.wdp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271268-6776-3100-FDD4-5E568979E720}"/>
              </a:ext>
            </a:extLst>
          </p:cNvPr>
          <p:cNvSpPr/>
          <p:nvPr/>
        </p:nvSpPr>
        <p:spPr>
          <a:xfrm>
            <a:off x="0" y="16813"/>
            <a:ext cx="9144000" cy="5143500"/>
          </a:xfrm>
          <a:prstGeom prst="rect">
            <a:avLst/>
          </a:prstGeom>
          <a:solidFill>
            <a:schemeClr val="bg1">
              <a:alpha val="540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grpSp>
        <p:nvGrpSpPr>
          <p:cNvPr id="5" name="Google Shape;12773;p89">
            <a:extLst>
              <a:ext uri="{FF2B5EF4-FFF2-40B4-BE49-F238E27FC236}">
                <a16:creationId xmlns:a16="http://schemas.microsoft.com/office/drawing/2014/main" id="{87A1F1F7-4C67-E1AE-ED5A-B424C780A963}"/>
              </a:ext>
            </a:extLst>
          </p:cNvPr>
          <p:cNvGrpSpPr/>
          <p:nvPr/>
        </p:nvGrpSpPr>
        <p:grpSpPr>
          <a:xfrm>
            <a:off x="-1179755" y="74706"/>
            <a:ext cx="3937189" cy="5010902"/>
            <a:chOff x="4193490" y="3350084"/>
            <a:chExt cx="289939" cy="334661"/>
          </a:xfrm>
          <a:gradFill flip="none" rotWithShape="1">
            <a:gsLst>
              <a:gs pos="0">
                <a:srgbClr val="253754">
                  <a:shade val="30000"/>
                  <a:satMod val="115000"/>
                  <a:lumMod val="91837"/>
                  <a:lumOff val="8163"/>
                  <a:alpha val="46000"/>
                </a:srgbClr>
              </a:gs>
              <a:gs pos="50000">
                <a:srgbClr val="1B367A">
                  <a:alpha val="51000"/>
                  <a:lumMod val="84766"/>
                  <a:lumOff val="15234"/>
                </a:srgbClr>
              </a:gs>
              <a:gs pos="100000">
                <a:srgbClr val="546B66">
                  <a:alpha val="64381"/>
                  <a:lumMod val="81099"/>
                  <a:lumOff val="18901"/>
                </a:srgbClr>
              </a:gs>
            </a:gsLst>
            <a:lin ang="5400000" scaled="1"/>
            <a:tileRect/>
          </a:gradFill>
        </p:grpSpPr>
        <p:sp>
          <p:nvSpPr>
            <p:cNvPr id="6" name="Google Shape;12774;p89">
              <a:extLst>
                <a:ext uri="{FF2B5EF4-FFF2-40B4-BE49-F238E27FC236}">
                  <a16:creationId xmlns:a16="http://schemas.microsoft.com/office/drawing/2014/main" id="{30DBA37D-46B4-2CEE-B6E6-D438B0F0DA83}"/>
                </a:ext>
              </a:extLst>
            </p:cNvPr>
            <p:cNvSpPr/>
            <p:nvPr/>
          </p:nvSpPr>
          <p:spPr>
            <a:xfrm>
              <a:off x="4193490" y="3350084"/>
              <a:ext cx="246364" cy="150110"/>
            </a:xfrm>
            <a:custGeom>
              <a:avLst/>
              <a:gdLst/>
              <a:ahLst/>
              <a:cxnLst/>
              <a:rect l="l" t="t" r="r" b="b"/>
              <a:pathLst>
                <a:path w="7740" h="4716" extrusionOk="0">
                  <a:moveTo>
                    <a:pt x="4382" y="298"/>
                  </a:moveTo>
                  <a:lnTo>
                    <a:pt x="4299" y="1048"/>
                  </a:lnTo>
                  <a:lnTo>
                    <a:pt x="3668" y="1048"/>
                  </a:lnTo>
                  <a:lnTo>
                    <a:pt x="3620" y="524"/>
                  </a:lnTo>
                  <a:lnTo>
                    <a:pt x="3584" y="298"/>
                  </a:lnTo>
                  <a:close/>
                  <a:moveTo>
                    <a:pt x="6013" y="929"/>
                  </a:moveTo>
                  <a:lnTo>
                    <a:pt x="7204" y="2120"/>
                  </a:lnTo>
                  <a:lnTo>
                    <a:pt x="6025" y="2096"/>
                  </a:lnTo>
                  <a:lnTo>
                    <a:pt x="6013" y="929"/>
                  </a:lnTo>
                  <a:close/>
                  <a:moveTo>
                    <a:pt x="3406" y="0"/>
                  </a:moveTo>
                  <a:cubicBezTo>
                    <a:pt x="3358" y="0"/>
                    <a:pt x="3322" y="12"/>
                    <a:pt x="3287" y="48"/>
                  </a:cubicBezTo>
                  <a:cubicBezTo>
                    <a:pt x="3263" y="72"/>
                    <a:pt x="3239" y="119"/>
                    <a:pt x="3239" y="167"/>
                  </a:cubicBezTo>
                  <a:lnTo>
                    <a:pt x="3275" y="393"/>
                  </a:lnTo>
                  <a:lnTo>
                    <a:pt x="143" y="393"/>
                  </a:lnTo>
                  <a:cubicBezTo>
                    <a:pt x="60" y="393"/>
                    <a:pt x="1" y="465"/>
                    <a:pt x="1" y="536"/>
                  </a:cubicBezTo>
                  <a:lnTo>
                    <a:pt x="1" y="1191"/>
                  </a:lnTo>
                  <a:cubicBezTo>
                    <a:pt x="1" y="1286"/>
                    <a:pt x="72" y="1346"/>
                    <a:pt x="143" y="1346"/>
                  </a:cubicBezTo>
                  <a:cubicBezTo>
                    <a:pt x="239" y="1346"/>
                    <a:pt x="298" y="1262"/>
                    <a:pt x="298" y="1191"/>
                  </a:cubicBezTo>
                  <a:lnTo>
                    <a:pt x="298" y="691"/>
                  </a:lnTo>
                  <a:lnTo>
                    <a:pt x="3299" y="691"/>
                  </a:lnTo>
                  <a:lnTo>
                    <a:pt x="3358" y="1203"/>
                  </a:lnTo>
                  <a:cubicBezTo>
                    <a:pt x="3382" y="1286"/>
                    <a:pt x="3441" y="1346"/>
                    <a:pt x="3513" y="1346"/>
                  </a:cubicBezTo>
                  <a:lnTo>
                    <a:pt x="4418" y="1346"/>
                  </a:lnTo>
                  <a:cubicBezTo>
                    <a:pt x="4489" y="1346"/>
                    <a:pt x="4573" y="1286"/>
                    <a:pt x="4573" y="1203"/>
                  </a:cubicBezTo>
                  <a:lnTo>
                    <a:pt x="4632" y="691"/>
                  </a:lnTo>
                  <a:lnTo>
                    <a:pt x="5680" y="691"/>
                  </a:lnTo>
                  <a:lnTo>
                    <a:pt x="5704" y="2239"/>
                  </a:lnTo>
                  <a:cubicBezTo>
                    <a:pt x="5704" y="2322"/>
                    <a:pt x="5775" y="2382"/>
                    <a:pt x="5847" y="2382"/>
                  </a:cubicBezTo>
                  <a:lnTo>
                    <a:pt x="7394" y="2394"/>
                  </a:lnTo>
                  <a:lnTo>
                    <a:pt x="7394" y="4572"/>
                  </a:lnTo>
                  <a:cubicBezTo>
                    <a:pt x="7394" y="4656"/>
                    <a:pt x="7466" y="4715"/>
                    <a:pt x="7549" y="4715"/>
                  </a:cubicBezTo>
                  <a:cubicBezTo>
                    <a:pt x="7632" y="4715"/>
                    <a:pt x="7692" y="4644"/>
                    <a:pt x="7692" y="4572"/>
                  </a:cubicBezTo>
                  <a:lnTo>
                    <a:pt x="7692" y="2251"/>
                  </a:lnTo>
                  <a:cubicBezTo>
                    <a:pt x="7740" y="2215"/>
                    <a:pt x="7728" y="2191"/>
                    <a:pt x="7692" y="2155"/>
                  </a:cubicBezTo>
                  <a:lnTo>
                    <a:pt x="5966" y="429"/>
                  </a:lnTo>
                  <a:cubicBezTo>
                    <a:pt x="5942" y="405"/>
                    <a:pt x="5894" y="393"/>
                    <a:pt x="5858" y="393"/>
                  </a:cubicBezTo>
                  <a:lnTo>
                    <a:pt x="4692" y="393"/>
                  </a:lnTo>
                  <a:lnTo>
                    <a:pt x="4715" y="167"/>
                  </a:lnTo>
                  <a:cubicBezTo>
                    <a:pt x="4715" y="119"/>
                    <a:pt x="4704" y="72"/>
                    <a:pt x="4668" y="48"/>
                  </a:cubicBezTo>
                  <a:cubicBezTo>
                    <a:pt x="4644" y="12"/>
                    <a:pt x="4596" y="0"/>
                    <a:pt x="45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775;p89">
              <a:extLst>
                <a:ext uri="{FF2B5EF4-FFF2-40B4-BE49-F238E27FC236}">
                  <a16:creationId xmlns:a16="http://schemas.microsoft.com/office/drawing/2014/main" id="{6E0CFC3D-BEE1-1A95-F9B5-210C1015B8B8}"/>
                </a:ext>
              </a:extLst>
            </p:cNvPr>
            <p:cNvSpPr/>
            <p:nvPr/>
          </p:nvSpPr>
          <p:spPr>
            <a:xfrm>
              <a:off x="4193872" y="3405023"/>
              <a:ext cx="9517" cy="44753"/>
            </a:xfrm>
            <a:custGeom>
              <a:avLst/>
              <a:gdLst/>
              <a:ahLst/>
              <a:cxnLst/>
              <a:rect l="l" t="t" r="r" b="b"/>
              <a:pathLst>
                <a:path w="299" h="1406" extrusionOk="0">
                  <a:moveTo>
                    <a:pt x="155" y="1"/>
                  </a:moveTo>
                  <a:cubicBezTo>
                    <a:pt x="60" y="1"/>
                    <a:pt x="0" y="72"/>
                    <a:pt x="0" y="156"/>
                  </a:cubicBezTo>
                  <a:lnTo>
                    <a:pt x="0" y="1251"/>
                  </a:lnTo>
                  <a:cubicBezTo>
                    <a:pt x="0" y="1346"/>
                    <a:pt x="72" y="1406"/>
                    <a:pt x="155" y="1406"/>
                  </a:cubicBezTo>
                  <a:cubicBezTo>
                    <a:pt x="239" y="1406"/>
                    <a:pt x="298" y="1322"/>
                    <a:pt x="298" y="1251"/>
                  </a:cubicBezTo>
                  <a:lnTo>
                    <a:pt x="298" y="156"/>
                  </a:ln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776;p89">
              <a:extLst>
                <a:ext uri="{FF2B5EF4-FFF2-40B4-BE49-F238E27FC236}">
                  <a16:creationId xmlns:a16="http://schemas.microsoft.com/office/drawing/2014/main" id="{DBFB195B-ED19-F12C-9092-F6BFDA84FC1D}"/>
                </a:ext>
              </a:extLst>
            </p:cNvPr>
            <p:cNvSpPr/>
            <p:nvPr/>
          </p:nvSpPr>
          <p:spPr>
            <a:xfrm>
              <a:off x="4275356" y="3444460"/>
              <a:ext cx="128116" cy="9485"/>
            </a:xfrm>
            <a:custGeom>
              <a:avLst/>
              <a:gdLst/>
              <a:ahLst/>
              <a:cxnLst/>
              <a:rect l="l" t="t" r="r" b="b"/>
              <a:pathLst>
                <a:path w="4025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26"/>
                    <a:pt x="72" y="298"/>
                    <a:pt x="155" y="298"/>
                  </a:cubicBezTo>
                  <a:lnTo>
                    <a:pt x="3870" y="298"/>
                  </a:lnTo>
                  <a:cubicBezTo>
                    <a:pt x="3965" y="298"/>
                    <a:pt x="4025" y="226"/>
                    <a:pt x="4025" y="143"/>
                  </a:cubicBezTo>
                  <a:cubicBezTo>
                    <a:pt x="4025" y="71"/>
                    <a:pt x="3965" y="0"/>
                    <a:pt x="3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777;p89">
              <a:extLst>
                <a:ext uri="{FF2B5EF4-FFF2-40B4-BE49-F238E27FC236}">
                  <a16:creationId xmlns:a16="http://schemas.microsoft.com/office/drawing/2014/main" id="{B8B287D9-3CDF-2B20-F1BE-7FE28B37AE55}"/>
                </a:ext>
              </a:extLst>
            </p:cNvPr>
            <p:cNvSpPr/>
            <p:nvPr/>
          </p:nvSpPr>
          <p:spPr>
            <a:xfrm>
              <a:off x="4275356" y="3463781"/>
              <a:ext cx="128116" cy="9485"/>
            </a:xfrm>
            <a:custGeom>
              <a:avLst/>
              <a:gdLst/>
              <a:ahLst/>
              <a:cxnLst/>
              <a:rect l="l" t="t" r="r" b="b"/>
              <a:pathLst>
                <a:path w="4025" h="298" extrusionOk="0">
                  <a:moveTo>
                    <a:pt x="155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26"/>
                    <a:pt x="72" y="298"/>
                    <a:pt x="155" y="298"/>
                  </a:cubicBezTo>
                  <a:lnTo>
                    <a:pt x="3870" y="298"/>
                  </a:lnTo>
                  <a:cubicBezTo>
                    <a:pt x="3965" y="298"/>
                    <a:pt x="4025" y="226"/>
                    <a:pt x="4025" y="155"/>
                  </a:cubicBezTo>
                  <a:cubicBezTo>
                    <a:pt x="4025" y="72"/>
                    <a:pt x="3965" y="0"/>
                    <a:pt x="3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778;p89">
              <a:extLst>
                <a:ext uri="{FF2B5EF4-FFF2-40B4-BE49-F238E27FC236}">
                  <a16:creationId xmlns:a16="http://schemas.microsoft.com/office/drawing/2014/main" id="{1D55221A-A256-26ED-B176-C13633140AD9}"/>
                </a:ext>
              </a:extLst>
            </p:cNvPr>
            <p:cNvSpPr/>
            <p:nvPr/>
          </p:nvSpPr>
          <p:spPr>
            <a:xfrm>
              <a:off x="4223442" y="3439527"/>
              <a:ext cx="38673" cy="38673"/>
            </a:xfrm>
            <a:custGeom>
              <a:avLst/>
              <a:gdLst/>
              <a:ahLst/>
              <a:cxnLst/>
              <a:rect l="l" t="t" r="r" b="b"/>
              <a:pathLst>
                <a:path w="1215" h="1215" extrusionOk="0">
                  <a:moveTo>
                    <a:pt x="905" y="322"/>
                  </a:moveTo>
                  <a:lnTo>
                    <a:pt x="905" y="917"/>
                  </a:lnTo>
                  <a:lnTo>
                    <a:pt x="310" y="917"/>
                  </a:lnTo>
                  <a:lnTo>
                    <a:pt x="310" y="322"/>
                  </a:lnTo>
                  <a:close/>
                  <a:moveTo>
                    <a:pt x="143" y="0"/>
                  </a:moveTo>
                  <a:cubicBezTo>
                    <a:pt x="48" y="0"/>
                    <a:pt x="0" y="72"/>
                    <a:pt x="0" y="155"/>
                  </a:cubicBezTo>
                  <a:lnTo>
                    <a:pt x="0" y="1060"/>
                  </a:lnTo>
                  <a:cubicBezTo>
                    <a:pt x="0" y="1155"/>
                    <a:pt x="72" y="1215"/>
                    <a:pt x="143" y="1215"/>
                  </a:cubicBezTo>
                  <a:lnTo>
                    <a:pt x="1048" y="1215"/>
                  </a:lnTo>
                  <a:cubicBezTo>
                    <a:pt x="1143" y="1215"/>
                    <a:pt x="1203" y="1131"/>
                    <a:pt x="1203" y="1060"/>
                  </a:cubicBezTo>
                  <a:lnTo>
                    <a:pt x="1203" y="155"/>
                  </a:lnTo>
                  <a:cubicBezTo>
                    <a:pt x="1215" y="72"/>
                    <a:pt x="1143" y="0"/>
                    <a:pt x="10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779;p89">
              <a:extLst>
                <a:ext uri="{FF2B5EF4-FFF2-40B4-BE49-F238E27FC236}">
                  <a16:creationId xmlns:a16="http://schemas.microsoft.com/office/drawing/2014/main" id="{C16635DB-F509-F9D5-EED7-F7E228392756}"/>
                </a:ext>
              </a:extLst>
            </p:cNvPr>
            <p:cNvSpPr/>
            <p:nvPr/>
          </p:nvSpPr>
          <p:spPr>
            <a:xfrm>
              <a:off x="4275356" y="3525913"/>
              <a:ext cx="128116" cy="9517"/>
            </a:xfrm>
            <a:custGeom>
              <a:avLst/>
              <a:gdLst/>
              <a:ahLst/>
              <a:cxnLst/>
              <a:rect l="l" t="t" r="r" b="b"/>
              <a:pathLst>
                <a:path w="4025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27"/>
                    <a:pt x="72" y="299"/>
                    <a:pt x="155" y="299"/>
                  </a:cubicBezTo>
                  <a:lnTo>
                    <a:pt x="3870" y="299"/>
                  </a:lnTo>
                  <a:cubicBezTo>
                    <a:pt x="3965" y="299"/>
                    <a:pt x="4025" y="227"/>
                    <a:pt x="4025" y="144"/>
                  </a:cubicBezTo>
                  <a:cubicBezTo>
                    <a:pt x="4025" y="72"/>
                    <a:pt x="3965" y="1"/>
                    <a:pt x="38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780;p89">
              <a:extLst>
                <a:ext uri="{FF2B5EF4-FFF2-40B4-BE49-F238E27FC236}">
                  <a16:creationId xmlns:a16="http://schemas.microsoft.com/office/drawing/2014/main" id="{46463557-56EA-0BE8-07C4-9D554B9B21C6}"/>
                </a:ext>
              </a:extLst>
            </p:cNvPr>
            <p:cNvSpPr/>
            <p:nvPr/>
          </p:nvSpPr>
          <p:spPr>
            <a:xfrm>
              <a:off x="4275356" y="3544884"/>
              <a:ext cx="128116" cy="9485"/>
            </a:xfrm>
            <a:custGeom>
              <a:avLst/>
              <a:gdLst/>
              <a:ahLst/>
              <a:cxnLst/>
              <a:rect l="l" t="t" r="r" b="b"/>
              <a:pathLst>
                <a:path w="4025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26"/>
                    <a:pt x="72" y="298"/>
                    <a:pt x="155" y="298"/>
                  </a:cubicBezTo>
                  <a:lnTo>
                    <a:pt x="3870" y="298"/>
                  </a:lnTo>
                  <a:cubicBezTo>
                    <a:pt x="3965" y="298"/>
                    <a:pt x="4025" y="226"/>
                    <a:pt x="4025" y="143"/>
                  </a:cubicBezTo>
                  <a:cubicBezTo>
                    <a:pt x="4025" y="72"/>
                    <a:pt x="3965" y="0"/>
                    <a:pt x="3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781;p89">
              <a:extLst>
                <a:ext uri="{FF2B5EF4-FFF2-40B4-BE49-F238E27FC236}">
                  <a16:creationId xmlns:a16="http://schemas.microsoft.com/office/drawing/2014/main" id="{D9DE4823-95B6-4392-C6D9-DAE9FAA33ADC}"/>
                </a:ext>
              </a:extLst>
            </p:cNvPr>
            <p:cNvSpPr/>
            <p:nvPr/>
          </p:nvSpPr>
          <p:spPr>
            <a:xfrm>
              <a:off x="4223442" y="3521011"/>
              <a:ext cx="38673" cy="38673"/>
            </a:xfrm>
            <a:custGeom>
              <a:avLst/>
              <a:gdLst/>
              <a:ahLst/>
              <a:cxnLst/>
              <a:rect l="l" t="t" r="r" b="b"/>
              <a:pathLst>
                <a:path w="1215" h="1215" extrusionOk="0">
                  <a:moveTo>
                    <a:pt x="905" y="298"/>
                  </a:moveTo>
                  <a:lnTo>
                    <a:pt x="905" y="893"/>
                  </a:lnTo>
                  <a:lnTo>
                    <a:pt x="310" y="893"/>
                  </a:lnTo>
                  <a:lnTo>
                    <a:pt x="310" y="298"/>
                  </a:lnTo>
                  <a:close/>
                  <a:moveTo>
                    <a:pt x="143" y="0"/>
                  </a:moveTo>
                  <a:cubicBezTo>
                    <a:pt x="48" y="0"/>
                    <a:pt x="0" y="83"/>
                    <a:pt x="0" y="155"/>
                  </a:cubicBezTo>
                  <a:lnTo>
                    <a:pt x="0" y="1060"/>
                  </a:lnTo>
                  <a:cubicBezTo>
                    <a:pt x="0" y="1155"/>
                    <a:pt x="72" y="1215"/>
                    <a:pt x="143" y="1215"/>
                  </a:cubicBezTo>
                  <a:lnTo>
                    <a:pt x="1048" y="1215"/>
                  </a:lnTo>
                  <a:cubicBezTo>
                    <a:pt x="1143" y="1215"/>
                    <a:pt x="1203" y="1131"/>
                    <a:pt x="1203" y="1060"/>
                  </a:cubicBezTo>
                  <a:lnTo>
                    <a:pt x="1203" y="155"/>
                  </a:lnTo>
                  <a:cubicBezTo>
                    <a:pt x="1215" y="83"/>
                    <a:pt x="1143" y="0"/>
                    <a:pt x="10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782;p89">
              <a:extLst>
                <a:ext uri="{FF2B5EF4-FFF2-40B4-BE49-F238E27FC236}">
                  <a16:creationId xmlns:a16="http://schemas.microsoft.com/office/drawing/2014/main" id="{D820A03C-CD22-EB10-999B-A9296598B9FC}"/>
                </a:ext>
              </a:extLst>
            </p:cNvPr>
            <p:cNvSpPr/>
            <p:nvPr/>
          </p:nvSpPr>
          <p:spPr>
            <a:xfrm>
              <a:off x="4223442" y="3602464"/>
              <a:ext cx="38673" cy="38705"/>
            </a:xfrm>
            <a:custGeom>
              <a:avLst/>
              <a:gdLst/>
              <a:ahLst/>
              <a:cxnLst/>
              <a:rect l="l" t="t" r="r" b="b"/>
              <a:pathLst>
                <a:path w="1215" h="1216" extrusionOk="0">
                  <a:moveTo>
                    <a:pt x="905" y="299"/>
                  </a:moveTo>
                  <a:lnTo>
                    <a:pt x="905" y="894"/>
                  </a:lnTo>
                  <a:lnTo>
                    <a:pt x="310" y="894"/>
                  </a:lnTo>
                  <a:lnTo>
                    <a:pt x="310" y="299"/>
                  </a:lnTo>
                  <a:close/>
                  <a:moveTo>
                    <a:pt x="143" y="1"/>
                  </a:moveTo>
                  <a:cubicBezTo>
                    <a:pt x="48" y="1"/>
                    <a:pt x="0" y="84"/>
                    <a:pt x="0" y="156"/>
                  </a:cubicBezTo>
                  <a:lnTo>
                    <a:pt x="0" y="1061"/>
                  </a:lnTo>
                  <a:cubicBezTo>
                    <a:pt x="0" y="1156"/>
                    <a:pt x="72" y="1215"/>
                    <a:pt x="143" y="1215"/>
                  </a:cubicBezTo>
                  <a:lnTo>
                    <a:pt x="1048" y="1215"/>
                  </a:lnTo>
                  <a:cubicBezTo>
                    <a:pt x="1143" y="1215"/>
                    <a:pt x="1203" y="1132"/>
                    <a:pt x="1203" y="1061"/>
                  </a:cubicBezTo>
                  <a:lnTo>
                    <a:pt x="1203" y="156"/>
                  </a:lnTo>
                  <a:cubicBezTo>
                    <a:pt x="1215" y="60"/>
                    <a:pt x="1143" y="1"/>
                    <a:pt x="10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783;p89">
              <a:extLst>
                <a:ext uri="{FF2B5EF4-FFF2-40B4-BE49-F238E27FC236}">
                  <a16:creationId xmlns:a16="http://schemas.microsoft.com/office/drawing/2014/main" id="{A7CB0C55-62CF-49CF-D6A9-C51ED0FAB09D}"/>
                </a:ext>
              </a:extLst>
            </p:cNvPr>
            <p:cNvSpPr/>
            <p:nvPr/>
          </p:nvSpPr>
          <p:spPr>
            <a:xfrm>
              <a:off x="4193872" y="3460375"/>
              <a:ext cx="289558" cy="224370"/>
            </a:xfrm>
            <a:custGeom>
              <a:avLst/>
              <a:gdLst/>
              <a:ahLst/>
              <a:cxnLst/>
              <a:rect l="l" t="t" r="r" b="b"/>
              <a:pathLst>
                <a:path w="9097" h="7049" extrusionOk="0">
                  <a:moveTo>
                    <a:pt x="6108" y="3751"/>
                  </a:moveTo>
                  <a:lnTo>
                    <a:pt x="8502" y="4620"/>
                  </a:lnTo>
                  <a:lnTo>
                    <a:pt x="7894" y="4894"/>
                  </a:lnTo>
                  <a:cubicBezTo>
                    <a:pt x="7847" y="4917"/>
                    <a:pt x="7811" y="4953"/>
                    <a:pt x="7799" y="5013"/>
                  </a:cubicBezTo>
                  <a:cubicBezTo>
                    <a:pt x="7787" y="5060"/>
                    <a:pt x="7799" y="5120"/>
                    <a:pt x="7847" y="5155"/>
                  </a:cubicBezTo>
                  <a:lnTo>
                    <a:pt x="8752" y="6060"/>
                  </a:lnTo>
                  <a:lnTo>
                    <a:pt x="8406" y="6406"/>
                  </a:lnTo>
                  <a:lnTo>
                    <a:pt x="7501" y="5489"/>
                  </a:lnTo>
                  <a:cubicBezTo>
                    <a:pt x="7478" y="5465"/>
                    <a:pt x="7430" y="5453"/>
                    <a:pt x="7394" y="5453"/>
                  </a:cubicBezTo>
                  <a:lnTo>
                    <a:pt x="7370" y="5453"/>
                  </a:lnTo>
                  <a:cubicBezTo>
                    <a:pt x="7323" y="5465"/>
                    <a:pt x="7275" y="5489"/>
                    <a:pt x="7251" y="5536"/>
                  </a:cubicBezTo>
                  <a:lnTo>
                    <a:pt x="6966" y="6156"/>
                  </a:lnTo>
                  <a:lnTo>
                    <a:pt x="6108" y="3751"/>
                  </a:lnTo>
                  <a:close/>
                  <a:moveTo>
                    <a:pt x="155" y="0"/>
                  </a:moveTo>
                  <a:cubicBezTo>
                    <a:pt x="60" y="0"/>
                    <a:pt x="0" y="83"/>
                    <a:pt x="0" y="155"/>
                  </a:cubicBezTo>
                  <a:lnTo>
                    <a:pt x="0" y="6894"/>
                  </a:lnTo>
                  <a:cubicBezTo>
                    <a:pt x="0" y="6989"/>
                    <a:pt x="72" y="7049"/>
                    <a:pt x="155" y="7049"/>
                  </a:cubicBezTo>
                  <a:lnTo>
                    <a:pt x="7573" y="7049"/>
                  </a:lnTo>
                  <a:cubicBezTo>
                    <a:pt x="7668" y="7049"/>
                    <a:pt x="7728" y="6965"/>
                    <a:pt x="7728" y="6894"/>
                  </a:cubicBezTo>
                  <a:lnTo>
                    <a:pt x="7728" y="6156"/>
                  </a:lnTo>
                  <a:lnTo>
                    <a:pt x="8204" y="6632"/>
                  </a:lnTo>
                  <a:cubicBezTo>
                    <a:pt x="8263" y="6691"/>
                    <a:pt x="8335" y="6715"/>
                    <a:pt x="8430" y="6715"/>
                  </a:cubicBezTo>
                  <a:cubicBezTo>
                    <a:pt x="8513" y="6715"/>
                    <a:pt x="8585" y="6691"/>
                    <a:pt x="8644" y="6632"/>
                  </a:cubicBezTo>
                  <a:lnTo>
                    <a:pt x="8990" y="6287"/>
                  </a:lnTo>
                  <a:cubicBezTo>
                    <a:pt x="9097" y="6156"/>
                    <a:pt x="9097" y="5953"/>
                    <a:pt x="8978" y="5822"/>
                  </a:cubicBezTo>
                  <a:lnTo>
                    <a:pt x="8228" y="5084"/>
                  </a:lnTo>
                  <a:lnTo>
                    <a:pt x="8644" y="4882"/>
                  </a:lnTo>
                  <a:cubicBezTo>
                    <a:pt x="8763" y="4822"/>
                    <a:pt x="8835" y="4703"/>
                    <a:pt x="8823" y="4584"/>
                  </a:cubicBezTo>
                  <a:cubicBezTo>
                    <a:pt x="8811" y="4465"/>
                    <a:pt x="8740" y="4346"/>
                    <a:pt x="8621" y="4310"/>
                  </a:cubicBezTo>
                  <a:lnTo>
                    <a:pt x="7728" y="3989"/>
                  </a:lnTo>
                  <a:lnTo>
                    <a:pt x="7728" y="1762"/>
                  </a:lnTo>
                  <a:cubicBezTo>
                    <a:pt x="7728" y="1667"/>
                    <a:pt x="7656" y="1607"/>
                    <a:pt x="7573" y="1607"/>
                  </a:cubicBezTo>
                  <a:cubicBezTo>
                    <a:pt x="7489" y="1607"/>
                    <a:pt x="7430" y="1691"/>
                    <a:pt x="7430" y="1762"/>
                  </a:cubicBezTo>
                  <a:lnTo>
                    <a:pt x="7430" y="3893"/>
                  </a:lnTo>
                  <a:lnTo>
                    <a:pt x="6227" y="3453"/>
                  </a:lnTo>
                  <a:cubicBezTo>
                    <a:pt x="6193" y="3442"/>
                    <a:pt x="6158" y="3437"/>
                    <a:pt x="6124" y="3437"/>
                  </a:cubicBezTo>
                  <a:cubicBezTo>
                    <a:pt x="6041" y="3437"/>
                    <a:pt x="5962" y="3469"/>
                    <a:pt x="5894" y="3536"/>
                  </a:cubicBezTo>
                  <a:cubicBezTo>
                    <a:pt x="5799" y="3620"/>
                    <a:pt x="5775" y="3739"/>
                    <a:pt x="5823" y="3858"/>
                  </a:cubicBezTo>
                  <a:lnTo>
                    <a:pt x="6085" y="4620"/>
                  </a:lnTo>
                  <a:lnTo>
                    <a:pt x="2727" y="4620"/>
                  </a:lnTo>
                  <a:cubicBezTo>
                    <a:pt x="2632" y="4620"/>
                    <a:pt x="2572" y="4691"/>
                    <a:pt x="2572" y="4763"/>
                  </a:cubicBezTo>
                  <a:cubicBezTo>
                    <a:pt x="2572" y="4858"/>
                    <a:pt x="2644" y="4917"/>
                    <a:pt x="2727" y="4917"/>
                  </a:cubicBezTo>
                  <a:lnTo>
                    <a:pt x="6204" y="4917"/>
                  </a:lnTo>
                  <a:lnTo>
                    <a:pt x="6311" y="5215"/>
                  </a:lnTo>
                  <a:lnTo>
                    <a:pt x="2727" y="5215"/>
                  </a:lnTo>
                  <a:cubicBezTo>
                    <a:pt x="2632" y="5215"/>
                    <a:pt x="2572" y="5286"/>
                    <a:pt x="2572" y="5358"/>
                  </a:cubicBezTo>
                  <a:cubicBezTo>
                    <a:pt x="2572" y="5453"/>
                    <a:pt x="2644" y="5513"/>
                    <a:pt x="2727" y="5513"/>
                  </a:cubicBezTo>
                  <a:lnTo>
                    <a:pt x="6418" y="5513"/>
                  </a:lnTo>
                  <a:lnTo>
                    <a:pt x="6668" y="6239"/>
                  </a:lnTo>
                  <a:cubicBezTo>
                    <a:pt x="6716" y="6358"/>
                    <a:pt x="6811" y="6453"/>
                    <a:pt x="6954" y="6453"/>
                  </a:cubicBezTo>
                  <a:cubicBezTo>
                    <a:pt x="7085" y="6453"/>
                    <a:pt x="7204" y="6394"/>
                    <a:pt x="7251" y="6275"/>
                  </a:cubicBezTo>
                  <a:lnTo>
                    <a:pt x="7406" y="5929"/>
                  </a:lnTo>
                  <a:lnTo>
                    <a:pt x="7406" y="6727"/>
                  </a:lnTo>
                  <a:lnTo>
                    <a:pt x="298" y="6727"/>
                  </a:lnTo>
                  <a:lnTo>
                    <a:pt x="298" y="155"/>
                  </a:ln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474;p38">
            <a:extLst>
              <a:ext uri="{FF2B5EF4-FFF2-40B4-BE49-F238E27FC236}">
                <a16:creationId xmlns:a16="http://schemas.microsoft.com/office/drawing/2014/main" id="{1E7AA395-C3F5-E459-4423-DFBB1E90848C}"/>
              </a:ext>
            </a:extLst>
          </p:cNvPr>
          <p:cNvSpPr txBox="1">
            <a:spLocks/>
          </p:cNvSpPr>
          <p:nvPr/>
        </p:nvSpPr>
        <p:spPr>
          <a:xfrm>
            <a:off x="3219412" y="4223953"/>
            <a:ext cx="1715534" cy="4534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3200" b="1" dirty="0">
                <a:solidFill>
                  <a:schemeClr val="tx1"/>
                </a:solidFill>
                <a:latin typeface="Krub" pitchFamily="2" charset="-34"/>
                <a:ea typeface="Apple Symbols" panose="02000000000000000000" pitchFamily="2" charset="-79"/>
                <a:cs typeface="Krub" pitchFamily="2" charset="-34"/>
              </a:rPr>
              <a:t>TEAM A</a:t>
            </a:r>
          </a:p>
          <a:p>
            <a:pPr algn="ctr"/>
            <a:endParaRPr lang="en-GB" sz="2800" b="1" dirty="0">
              <a:solidFill>
                <a:schemeClr val="tx1"/>
              </a:solidFill>
              <a:latin typeface="Krub" pitchFamily="2" charset="-34"/>
              <a:ea typeface="Apple Symbols" panose="02000000000000000000" pitchFamily="2" charset="-79"/>
              <a:cs typeface="Krub" pitchFamily="2" charset="-34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D1A79C-DF91-8757-FA67-916F23530308}"/>
              </a:ext>
            </a:extLst>
          </p:cNvPr>
          <p:cNvGrpSpPr/>
          <p:nvPr/>
        </p:nvGrpSpPr>
        <p:grpSpPr>
          <a:xfrm>
            <a:off x="1437697" y="727277"/>
            <a:ext cx="6368182" cy="3012564"/>
            <a:chOff x="1581490" y="763853"/>
            <a:chExt cx="6368182" cy="3012564"/>
          </a:xfrm>
        </p:grpSpPr>
        <p:cxnSp>
          <p:nvCxnSpPr>
            <p:cNvPr id="18" name="Google Shape;475;p38">
              <a:extLst>
                <a:ext uri="{FF2B5EF4-FFF2-40B4-BE49-F238E27FC236}">
                  <a16:creationId xmlns:a16="http://schemas.microsoft.com/office/drawing/2014/main" id="{4697777E-8F67-A7D5-8653-15341D1F6AAE}"/>
                </a:ext>
              </a:extLst>
            </p:cNvPr>
            <p:cNvCxnSpPr>
              <a:cxnSpLocks/>
            </p:cNvCxnSpPr>
            <p:nvPr/>
          </p:nvCxnSpPr>
          <p:spPr>
            <a:xfrm>
              <a:off x="3475859" y="3247074"/>
              <a:ext cx="421082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Google Shape;480;p38">
              <a:extLst>
                <a:ext uri="{FF2B5EF4-FFF2-40B4-BE49-F238E27FC236}">
                  <a16:creationId xmlns:a16="http://schemas.microsoft.com/office/drawing/2014/main" id="{5489E1F2-C3DE-6768-069A-1A5C647257D6}"/>
                </a:ext>
              </a:extLst>
            </p:cNvPr>
            <p:cNvSpPr txBox="1">
              <a:spLocks/>
            </p:cNvSpPr>
            <p:nvPr/>
          </p:nvSpPr>
          <p:spPr>
            <a:xfrm>
              <a:off x="1581490" y="1923141"/>
              <a:ext cx="5755578" cy="895952"/>
            </a:xfrm>
            <a:prstGeom prst="rect">
              <a:avLst/>
            </a:prstGeom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GB" sz="13800" b="1" dirty="0">
                  <a:solidFill>
                    <a:schemeClr val="tx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Mite </a:t>
              </a:r>
              <a:endParaRPr lang="en-GB" sz="13800" b="1" i="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20" name="Google Shape;478;p38">
              <a:extLst>
                <a:ext uri="{FF2B5EF4-FFF2-40B4-BE49-F238E27FC236}">
                  <a16:creationId xmlns:a16="http://schemas.microsoft.com/office/drawing/2014/main" id="{2BB49C91-5991-33AA-A6B2-7EB54A476E9C}"/>
                </a:ext>
              </a:extLst>
            </p:cNvPr>
            <p:cNvSpPr/>
            <p:nvPr/>
          </p:nvSpPr>
          <p:spPr>
            <a:xfrm rot="19467417">
              <a:off x="2419914" y="1408496"/>
              <a:ext cx="4434552" cy="1742363"/>
            </a:xfrm>
            <a:prstGeom prst="donut">
              <a:avLst>
                <a:gd name="adj" fmla="val 2048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1"/>
                </a:gs>
                <a:gs pos="70000">
                  <a:srgbClr val="7BA29E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80;p38">
              <a:extLst>
                <a:ext uri="{FF2B5EF4-FFF2-40B4-BE49-F238E27FC236}">
                  <a16:creationId xmlns:a16="http://schemas.microsoft.com/office/drawing/2014/main" id="{B0BEECA5-CF3E-2327-7B93-77E9CBC2245D}"/>
                </a:ext>
              </a:extLst>
            </p:cNvPr>
            <p:cNvSpPr txBox="1">
              <a:spLocks/>
            </p:cNvSpPr>
            <p:nvPr/>
          </p:nvSpPr>
          <p:spPr>
            <a:xfrm>
              <a:off x="2194094" y="2592088"/>
              <a:ext cx="5755578" cy="8959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1919"/>
                </a:buClr>
                <a:buSzPts val="5200"/>
                <a:buFont typeface="Krona One"/>
                <a:buNone/>
                <a:defRPr sz="4400" b="0" i="0" u="none" strike="noStrike" cap="none">
                  <a:solidFill>
                    <a:schemeClr val="dk1"/>
                  </a:solidFill>
                  <a:latin typeface="Krona One"/>
                  <a:ea typeface="Krona One"/>
                  <a:cs typeface="Krona One"/>
                  <a:sym typeface="Krona One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1919"/>
                </a:buClr>
                <a:buSzPts val="5200"/>
                <a:buFont typeface="Abril Fatface"/>
                <a:buNone/>
                <a:defRPr sz="5200" b="0" i="0" u="none" strike="noStrike" cap="none">
                  <a:solidFill>
                    <a:srgbClr val="191919"/>
                  </a:solidFill>
                  <a:latin typeface="Abril Fatface"/>
                  <a:ea typeface="Abril Fatface"/>
                  <a:cs typeface="Abril Fatface"/>
                  <a:sym typeface="Abril Fatface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1919"/>
                </a:buClr>
                <a:buSzPts val="5200"/>
                <a:buFont typeface="Abril Fatface"/>
                <a:buNone/>
                <a:defRPr sz="5200" b="0" i="0" u="none" strike="noStrike" cap="none">
                  <a:solidFill>
                    <a:srgbClr val="191919"/>
                  </a:solidFill>
                  <a:latin typeface="Abril Fatface"/>
                  <a:ea typeface="Abril Fatface"/>
                  <a:cs typeface="Abril Fatface"/>
                  <a:sym typeface="Abril Fatface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1919"/>
                </a:buClr>
                <a:buSzPts val="5200"/>
                <a:buFont typeface="Abril Fatface"/>
                <a:buNone/>
                <a:defRPr sz="5200" b="0" i="0" u="none" strike="noStrike" cap="none">
                  <a:solidFill>
                    <a:srgbClr val="191919"/>
                  </a:solidFill>
                  <a:latin typeface="Abril Fatface"/>
                  <a:ea typeface="Abril Fatface"/>
                  <a:cs typeface="Abril Fatface"/>
                  <a:sym typeface="Abril Fatface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1919"/>
                </a:buClr>
                <a:buSzPts val="5200"/>
                <a:buFont typeface="Abril Fatface"/>
                <a:buNone/>
                <a:defRPr sz="5200" b="0" i="0" u="none" strike="noStrike" cap="none">
                  <a:solidFill>
                    <a:srgbClr val="191919"/>
                  </a:solidFill>
                  <a:latin typeface="Abril Fatface"/>
                  <a:ea typeface="Abril Fatface"/>
                  <a:cs typeface="Abril Fatface"/>
                  <a:sym typeface="Abril Fatface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1919"/>
                </a:buClr>
                <a:buSzPts val="5200"/>
                <a:buFont typeface="Abril Fatface"/>
                <a:buNone/>
                <a:defRPr sz="5200" b="0" i="0" u="none" strike="noStrike" cap="none">
                  <a:solidFill>
                    <a:srgbClr val="191919"/>
                  </a:solidFill>
                  <a:latin typeface="Abril Fatface"/>
                  <a:ea typeface="Abril Fatface"/>
                  <a:cs typeface="Abril Fatface"/>
                  <a:sym typeface="Abril Fatface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1919"/>
                </a:buClr>
                <a:buSzPts val="5200"/>
                <a:buFont typeface="Abril Fatface"/>
                <a:buNone/>
                <a:defRPr sz="5200" b="0" i="0" u="none" strike="noStrike" cap="none">
                  <a:solidFill>
                    <a:srgbClr val="191919"/>
                  </a:solidFill>
                  <a:latin typeface="Abril Fatface"/>
                  <a:ea typeface="Abril Fatface"/>
                  <a:cs typeface="Abril Fatface"/>
                  <a:sym typeface="Abril Fatface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1919"/>
                </a:buClr>
                <a:buSzPts val="5200"/>
                <a:buFont typeface="Abril Fatface"/>
                <a:buNone/>
                <a:defRPr sz="5200" b="0" i="0" u="none" strike="noStrike" cap="none">
                  <a:solidFill>
                    <a:srgbClr val="191919"/>
                  </a:solidFill>
                  <a:latin typeface="Abril Fatface"/>
                  <a:ea typeface="Abril Fatface"/>
                  <a:cs typeface="Abril Fatface"/>
                  <a:sym typeface="Abril Fatface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1919"/>
                </a:buClr>
                <a:buSzPts val="5200"/>
                <a:buFont typeface="Abril Fatface"/>
                <a:buNone/>
                <a:defRPr sz="5200" b="0" i="0" u="none" strike="noStrike" cap="none">
                  <a:solidFill>
                    <a:srgbClr val="191919"/>
                  </a:solidFill>
                  <a:latin typeface="Abril Fatface"/>
                  <a:ea typeface="Abril Fatface"/>
                  <a:cs typeface="Abril Fatface"/>
                  <a:sym typeface="Abril Fatface"/>
                </a:defRPr>
              </a:lvl9pPr>
            </a:lstStyle>
            <a:p>
              <a:r>
                <a:rPr lang="en-GB" sz="9600" b="1" dirty="0">
                  <a:solidFill>
                    <a:schemeClr val="tx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Lovers</a:t>
              </a:r>
              <a:endParaRPr lang="en-GB" sz="8000" b="1" i="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22" name="Google Shape;527;p41">
              <a:extLst>
                <a:ext uri="{FF2B5EF4-FFF2-40B4-BE49-F238E27FC236}">
                  <a16:creationId xmlns:a16="http://schemas.microsoft.com/office/drawing/2014/main" id="{8BE67A9C-4A33-9DEB-C907-4C7BFA3ED912}"/>
                </a:ext>
              </a:extLst>
            </p:cNvPr>
            <p:cNvSpPr/>
            <p:nvPr/>
          </p:nvSpPr>
          <p:spPr>
            <a:xfrm rot="20852715" flipH="1">
              <a:off x="5452010" y="763853"/>
              <a:ext cx="258523" cy="249422"/>
            </a:xfrm>
            <a:prstGeom prst="plaqu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27;p41">
              <a:extLst>
                <a:ext uri="{FF2B5EF4-FFF2-40B4-BE49-F238E27FC236}">
                  <a16:creationId xmlns:a16="http://schemas.microsoft.com/office/drawing/2014/main" id="{1130383D-A995-C96D-BA50-420AD0C4C630}"/>
                </a:ext>
              </a:extLst>
            </p:cNvPr>
            <p:cNvSpPr/>
            <p:nvPr/>
          </p:nvSpPr>
          <p:spPr>
            <a:xfrm rot="20481855" flipH="1">
              <a:off x="3726790" y="3492151"/>
              <a:ext cx="266145" cy="284266"/>
            </a:xfrm>
            <a:prstGeom prst="plaqu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E2A52CB-8BEC-8A8F-FCC0-B6419D492A79}"/>
              </a:ext>
            </a:extLst>
          </p:cNvPr>
          <p:cNvSpPr txBox="1"/>
          <p:nvPr/>
        </p:nvSpPr>
        <p:spPr>
          <a:xfrm>
            <a:off x="3242294" y="4664258"/>
            <a:ext cx="1715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dirty="0">
                <a:solidFill>
                  <a:schemeClr val="tx1"/>
                </a:solidFill>
                <a:latin typeface="Krub" pitchFamily="2" charset="-34"/>
                <a:cs typeface="Krub" pitchFamily="2" charset="-34"/>
              </a:rPr>
              <a:t>LABPROJ - SWitCH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33F36E-36F8-95A1-F828-D265755EF94C}"/>
              </a:ext>
            </a:extLst>
          </p:cNvPr>
          <p:cNvSpPr/>
          <p:nvPr/>
        </p:nvSpPr>
        <p:spPr>
          <a:xfrm>
            <a:off x="0" y="16813"/>
            <a:ext cx="9144000" cy="5143500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78183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1275F-5FE6-5B6C-C39C-DE1E479B4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02BD05-B08D-FF9D-759D-07C7A27B18C4}"/>
              </a:ext>
            </a:extLst>
          </p:cNvPr>
          <p:cNvSpPr/>
          <p:nvPr/>
        </p:nvSpPr>
        <p:spPr>
          <a:xfrm>
            <a:off x="127747" y="0"/>
            <a:ext cx="9016253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880843-3D58-6295-FC49-BE8E81ACC9E7}"/>
              </a:ext>
            </a:extLst>
          </p:cNvPr>
          <p:cNvSpPr txBox="1"/>
          <p:nvPr/>
        </p:nvSpPr>
        <p:spPr>
          <a:xfrm>
            <a:off x="1511454" y="212008"/>
            <a:ext cx="4254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SUMMARY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C286FE-D9CF-6075-0724-C594634F2A7F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EF0C4FE-4E5F-4832-F027-9B3B6B25B13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401" y="80681"/>
            <a:ext cx="988248" cy="988248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ED37DBB3-A14D-DD66-6747-A14254CF66FC}"/>
              </a:ext>
            </a:extLst>
          </p:cNvPr>
          <p:cNvSpPr/>
          <p:nvPr/>
        </p:nvSpPr>
        <p:spPr>
          <a:xfrm>
            <a:off x="904759" y="2115732"/>
            <a:ext cx="388801" cy="3888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7ABA0A7-DF08-C8FA-9DCC-5157317A1B14}"/>
              </a:ext>
            </a:extLst>
          </p:cNvPr>
          <p:cNvSpPr/>
          <p:nvPr/>
        </p:nvSpPr>
        <p:spPr>
          <a:xfrm>
            <a:off x="904755" y="2692891"/>
            <a:ext cx="388801" cy="3888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E0BE4C3-FC08-28FD-EDE1-0EFFB2188815}"/>
              </a:ext>
            </a:extLst>
          </p:cNvPr>
          <p:cNvSpPr/>
          <p:nvPr/>
        </p:nvSpPr>
        <p:spPr>
          <a:xfrm>
            <a:off x="904755" y="3297536"/>
            <a:ext cx="388801" cy="3888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2C499B6-B043-F5C9-D66A-1A70EB5E291A}"/>
              </a:ext>
            </a:extLst>
          </p:cNvPr>
          <p:cNvSpPr/>
          <p:nvPr/>
        </p:nvSpPr>
        <p:spPr>
          <a:xfrm>
            <a:off x="904756" y="1538240"/>
            <a:ext cx="388801" cy="3888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6A8DDF6-C48F-01B1-D195-84DFC92602DA}"/>
              </a:ext>
            </a:extLst>
          </p:cNvPr>
          <p:cNvSpPr/>
          <p:nvPr/>
        </p:nvSpPr>
        <p:spPr>
          <a:xfrm>
            <a:off x="904755" y="3902988"/>
            <a:ext cx="388801" cy="3888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2DBD12-FCA6-3F12-5734-F0282A4B8230}"/>
              </a:ext>
            </a:extLst>
          </p:cNvPr>
          <p:cNvSpPr txBox="1"/>
          <p:nvPr/>
        </p:nvSpPr>
        <p:spPr>
          <a:xfrm>
            <a:off x="964685" y="1563363"/>
            <a:ext cx="295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6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E20554-DDCA-20A8-16EA-E95917BFBABC}"/>
              </a:ext>
            </a:extLst>
          </p:cNvPr>
          <p:cNvSpPr txBox="1"/>
          <p:nvPr/>
        </p:nvSpPr>
        <p:spPr>
          <a:xfrm>
            <a:off x="964684" y="2140855"/>
            <a:ext cx="295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6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AB43CF-75D5-5BAC-C307-D61FC254DE67}"/>
              </a:ext>
            </a:extLst>
          </p:cNvPr>
          <p:cNvSpPr txBox="1"/>
          <p:nvPr/>
        </p:nvSpPr>
        <p:spPr>
          <a:xfrm>
            <a:off x="962819" y="2727734"/>
            <a:ext cx="295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6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36F3A0-89E2-D198-A2E5-9AE3934735EF}"/>
              </a:ext>
            </a:extLst>
          </p:cNvPr>
          <p:cNvSpPr txBox="1"/>
          <p:nvPr/>
        </p:nvSpPr>
        <p:spPr>
          <a:xfrm>
            <a:off x="962818" y="3339675"/>
            <a:ext cx="295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6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40B4AA-7B62-0D71-6649-984E21526D0C}"/>
              </a:ext>
            </a:extLst>
          </p:cNvPr>
          <p:cNvSpPr txBox="1"/>
          <p:nvPr/>
        </p:nvSpPr>
        <p:spPr>
          <a:xfrm>
            <a:off x="951237" y="3945303"/>
            <a:ext cx="295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6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D6570E-F3A2-D6D7-F69D-A36B512FAD34}"/>
              </a:ext>
            </a:extLst>
          </p:cNvPr>
          <p:cNvSpPr txBox="1"/>
          <p:nvPr/>
        </p:nvSpPr>
        <p:spPr>
          <a:xfrm>
            <a:off x="1353486" y="1606261"/>
            <a:ext cx="47234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Sprint review 3: </a:t>
            </a:r>
            <a:r>
              <a:rPr lang="en-PT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Goals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732DAC-2397-4A01-993F-820FA887A226}"/>
              </a:ext>
            </a:extLst>
          </p:cNvPr>
          <p:cNvSpPr txBox="1"/>
          <p:nvPr/>
        </p:nvSpPr>
        <p:spPr>
          <a:xfrm>
            <a:off x="1353486" y="2184334"/>
            <a:ext cx="47234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Planning</a:t>
            </a:r>
            <a:r>
              <a:rPr lang="en-PT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: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CBF774-F749-47F1-B8FC-71D9193AA6AA}"/>
              </a:ext>
            </a:extLst>
          </p:cNvPr>
          <p:cNvSpPr txBox="1"/>
          <p:nvPr/>
        </p:nvSpPr>
        <p:spPr>
          <a:xfrm>
            <a:off x="1351620" y="2766206"/>
            <a:ext cx="5242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Overview</a:t>
            </a:r>
            <a:r>
              <a:rPr lang="en-PT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EC1F1B-E4ED-EF16-6134-B691F224D898}"/>
              </a:ext>
            </a:extLst>
          </p:cNvPr>
          <p:cNvSpPr txBox="1"/>
          <p:nvPr/>
        </p:nvSpPr>
        <p:spPr>
          <a:xfrm>
            <a:off x="1353486" y="3384711"/>
            <a:ext cx="47234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Implementation: </a:t>
            </a:r>
            <a:r>
              <a:rPr lang="en-PT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Factories </a:t>
            </a:r>
            <a:r>
              <a:rPr lang="en-PT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and </a:t>
            </a:r>
            <a:r>
              <a:rPr lang="en-PT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Mock testes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4C52B0-85DA-05C6-12AC-663C3C108B81}"/>
              </a:ext>
            </a:extLst>
          </p:cNvPr>
          <p:cNvSpPr txBox="1"/>
          <p:nvPr/>
        </p:nvSpPr>
        <p:spPr>
          <a:xfrm>
            <a:off x="1353486" y="3982473"/>
            <a:ext cx="47234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Results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07F5614E-0E6A-9052-C7D3-115A19690A3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0426" y="740664"/>
            <a:ext cx="4100509" cy="484069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AFB339A7-6E5E-806E-F550-D1374A9E95E0}"/>
              </a:ext>
            </a:extLst>
          </p:cNvPr>
          <p:cNvSpPr/>
          <p:nvPr/>
        </p:nvSpPr>
        <p:spPr>
          <a:xfrm>
            <a:off x="904755" y="4500750"/>
            <a:ext cx="388801" cy="388801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51B689-9AE4-C04F-1FC3-AA3506C8EC85}"/>
              </a:ext>
            </a:extLst>
          </p:cNvPr>
          <p:cNvSpPr txBox="1"/>
          <p:nvPr/>
        </p:nvSpPr>
        <p:spPr>
          <a:xfrm>
            <a:off x="951237" y="4543065"/>
            <a:ext cx="295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6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C9EA20-6D24-E899-5A33-CA5962D9BD8A}"/>
              </a:ext>
            </a:extLst>
          </p:cNvPr>
          <p:cNvSpPr txBox="1"/>
          <p:nvPr/>
        </p:nvSpPr>
        <p:spPr>
          <a:xfrm>
            <a:off x="1353486" y="4580235"/>
            <a:ext cx="47234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Achievements</a:t>
            </a:r>
          </a:p>
        </p:txBody>
      </p:sp>
    </p:spTree>
    <p:extLst>
      <p:ext uri="{BB962C8B-B14F-4D97-AF65-F5344CB8AC3E}">
        <p14:creationId xmlns:p14="http://schemas.microsoft.com/office/powerpoint/2010/main" val="2128988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D267F-B255-FB6A-0297-9ED206D93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EF51DD-7A6E-C7F8-2695-545A052369BF}"/>
              </a:ext>
            </a:extLst>
          </p:cNvPr>
          <p:cNvSpPr/>
          <p:nvPr/>
        </p:nvSpPr>
        <p:spPr>
          <a:xfrm>
            <a:off x="-212651" y="1671181"/>
            <a:ext cx="9355835" cy="611841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F01D41E-BE6D-2687-470F-02832E7F4484}"/>
              </a:ext>
            </a:extLst>
          </p:cNvPr>
          <p:cNvSpPr/>
          <p:nvPr/>
        </p:nvSpPr>
        <p:spPr>
          <a:xfrm>
            <a:off x="-1135664" y="795867"/>
            <a:ext cx="2098458" cy="44196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2677AC-4382-C4E5-03FD-099CBB5335F5}"/>
              </a:ext>
            </a:extLst>
          </p:cNvPr>
          <p:cNvSpPr/>
          <p:nvPr/>
        </p:nvSpPr>
        <p:spPr>
          <a:xfrm>
            <a:off x="127747" y="0"/>
            <a:ext cx="9016253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81CBE9-AE48-972B-17B9-D421A48D1D88}"/>
              </a:ext>
            </a:extLst>
          </p:cNvPr>
          <p:cNvSpPr txBox="1"/>
          <p:nvPr/>
        </p:nvSpPr>
        <p:spPr>
          <a:xfrm>
            <a:off x="1188720" y="212008"/>
            <a:ext cx="4254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SPRINT GOALS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2A457B8-2770-2502-F6B0-FA37ED1939B7}"/>
              </a:ext>
            </a:extLst>
          </p:cNvPr>
          <p:cNvSpPr/>
          <p:nvPr/>
        </p:nvSpPr>
        <p:spPr>
          <a:xfrm>
            <a:off x="409773" y="1617619"/>
            <a:ext cx="739588" cy="739588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FD0F74E-A264-413A-CA43-CCAE42F93C2B}"/>
              </a:ext>
            </a:extLst>
          </p:cNvPr>
          <p:cNvSpPr/>
          <p:nvPr/>
        </p:nvSpPr>
        <p:spPr>
          <a:xfrm>
            <a:off x="443641" y="2501271"/>
            <a:ext cx="739588" cy="739588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22499E-DF42-A742-4794-6A04E16B05D0}"/>
              </a:ext>
            </a:extLst>
          </p:cNvPr>
          <p:cNvSpPr/>
          <p:nvPr/>
        </p:nvSpPr>
        <p:spPr>
          <a:xfrm>
            <a:off x="326899" y="3397642"/>
            <a:ext cx="739588" cy="739588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68DEFEC-6763-6B4A-6B4B-2402F92DD5E4}"/>
              </a:ext>
            </a:extLst>
          </p:cNvPr>
          <p:cNvSpPr/>
          <p:nvPr/>
        </p:nvSpPr>
        <p:spPr>
          <a:xfrm>
            <a:off x="132405" y="4267370"/>
            <a:ext cx="739588" cy="739588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F13CA6-2D2A-73D9-045C-104089904C8C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1270F7-6E5B-5ED0-697B-F1C799481D5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584" y="31027"/>
            <a:ext cx="1014984" cy="10149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1215D93-10B4-ACAC-E085-A59CF522A3DA}"/>
              </a:ext>
            </a:extLst>
          </p:cNvPr>
          <p:cNvSpPr txBox="1"/>
          <p:nvPr/>
        </p:nvSpPr>
        <p:spPr>
          <a:xfrm>
            <a:off x="1295802" y="1859327"/>
            <a:ext cx="770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dirty="0">
                <a:latin typeface="Krub Light" pitchFamily="2" charset="-34"/>
                <a:cs typeface="Krub Light" pitchFamily="2" charset="-34"/>
              </a:rPr>
              <a:t>OBJETIVO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0BA188-4836-A3D9-DC05-FE27C603172C}"/>
              </a:ext>
            </a:extLst>
          </p:cNvPr>
          <p:cNvSpPr txBox="1"/>
          <p:nvPr/>
        </p:nvSpPr>
        <p:spPr>
          <a:xfrm>
            <a:off x="1223295" y="2733769"/>
            <a:ext cx="770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1">
                    <a:lumMod val="95000"/>
                  </a:schemeClr>
                </a:solidFill>
                <a:latin typeface="Krub Light" pitchFamily="2" charset="-34"/>
                <a:cs typeface="Krub Light" pitchFamily="2" charset="-34"/>
              </a:rPr>
              <a:t>O</a:t>
            </a:r>
            <a:r>
              <a:rPr lang="en-PT" sz="1200" dirty="0">
                <a:solidFill>
                  <a:schemeClr val="tx1">
                    <a:lumMod val="95000"/>
                  </a:schemeClr>
                </a:solidFill>
                <a:latin typeface="Krub Light" pitchFamily="2" charset="-34"/>
                <a:cs typeface="Krub Light" pitchFamily="2" charset="-34"/>
              </a:rPr>
              <a:t>BJETIVO 2</a:t>
            </a:r>
            <a:endParaRPr lang="en-PT" sz="1200" b="1" dirty="0">
              <a:solidFill>
                <a:schemeClr val="tx1">
                  <a:lumMod val="95000"/>
                </a:schemeClr>
              </a:solidFill>
              <a:latin typeface="Krub Light" pitchFamily="2" charset="-34"/>
              <a:cs typeface="Krub Light" pitchFamily="2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A4814A-BBA5-01C9-60A5-F12E1CE517C6}"/>
              </a:ext>
            </a:extLst>
          </p:cNvPr>
          <p:cNvSpPr txBox="1"/>
          <p:nvPr/>
        </p:nvSpPr>
        <p:spPr>
          <a:xfrm>
            <a:off x="1149436" y="3642078"/>
            <a:ext cx="770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b="1" dirty="0">
                <a:solidFill>
                  <a:schemeClr val="tx1">
                    <a:lumMod val="95000"/>
                  </a:schemeClr>
                </a:solidFill>
                <a:latin typeface="Krub Light" pitchFamily="2" charset="-34"/>
                <a:cs typeface="Krub Light" pitchFamily="2" charset="-34"/>
              </a:rPr>
              <a:t>OBJETIVO 3</a:t>
            </a:r>
            <a:endParaRPr lang="en-PT" sz="1200" dirty="0">
              <a:solidFill>
                <a:schemeClr val="tx1">
                  <a:lumMod val="95000"/>
                </a:schemeClr>
              </a:solidFill>
              <a:latin typeface="Krub Light" pitchFamily="2" charset="-34"/>
              <a:cs typeface="Krub Light" pitchFamily="2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3A510C-E5B5-DE6A-D087-DC7104198BC6}"/>
              </a:ext>
            </a:extLst>
          </p:cNvPr>
          <p:cNvSpPr txBox="1"/>
          <p:nvPr/>
        </p:nvSpPr>
        <p:spPr>
          <a:xfrm>
            <a:off x="957370" y="4498664"/>
            <a:ext cx="770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dirty="0">
                <a:solidFill>
                  <a:schemeClr val="tx1">
                    <a:lumMod val="95000"/>
                  </a:schemeClr>
                </a:solidFill>
                <a:latin typeface="Krub Light" pitchFamily="2" charset="-34"/>
                <a:cs typeface="Krub Light" pitchFamily="2" charset="-34"/>
              </a:rPr>
              <a:t>OBJETIVO 4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C1F4C32-DF23-65B0-4A01-1614C06236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282" y="3575056"/>
            <a:ext cx="453659" cy="4536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080F54D-27F3-50B4-783A-E58D352CC9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711" y="4387166"/>
            <a:ext cx="584015" cy="58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59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7EC05-5CFD-BF29-D2BB-E8DF7CCFA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34584C5-C710-0366-A9D3-D794CE598AD7}"/>
              </a:ext>
            </a:extLst>
          </p:cNvPr>
          <p:cNvSpPr/>
          <p:nvPr/>
        </p:nvSpPr>
        <p:spPr>
          <a:xfrm>
            <a:off x="-211835" y="2565490"/>
            <a:ext cx="9355835" cy="611841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B5E14D7-AA02-9CA3-9F87-B57E1924684A}"/>
              </a:ext>
            </a:extLst>
          </p:cNvPr>
          <p:cNvSpPr/>
          <p:nvPr/>
        </p:nvSpPr>
        <p:spPr>
          <a:xfrm>
            <a:off x="-1135664" y="795867"/>
            <a:ext cx="2098458" cy="44196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DE7AD2-221D-AD8B-E0C0-276EC1051512}"/>
              </a:ext>
            </a:extLst>
          </p:cNvPr>
          <p:cNvSpPr/>
          <p:nvPr/>
        </p:nvSpPr>
        <p:spPr>
          <a:xfrm>
            <a:off x="127747" y="0"/>
            <a:ext cx="9016253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71B575-5165-9EAC-73D5-8DDB27F8EA63}"/>
              </a:ext>
            </a:extLst>
          </p:cNvPr>
          <p:cNvSpPr txBox="1"/>
          <p:nvPr/>
        </p:nvSpPr>
        <p:spPr>
          <a:xfrm>
            <a:off x="1188720" y="212008"/>
            <a:ext cx="4254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SPRINT GOALS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B2DE284-61FF-CE63-71CB-9857EA142BCF}"/>
              </a:ext>
            </a:extLst>
          </p:cNvPr>
          <p:cNvSpPr/>
          <p:nvPr/>
        </p:nvSpPr>
        <p:spPr>
          <a:xfrm>
            <a:off x="409773" y="1617619"/>
            <a:ext cx="739588" cy="739588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183631-B1D9-F71B-85E5-353D449553E6}"/>
              </a:ext>
            </a:extLst>
          </p:cNvPr>
          <p:cNvSpPr/>
          <p:nvPr/>
        </p:nvSpPr>
        <p:spPr>
          <a:xfrm>
            <a:off x="443641" y="2501271"/>
            <a:ext cx="739588" cy="739588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E96F28E-D93D-9ECC-D0A7-0C6C96DF3B10}"/>
              </a:ext>
            </a:extLst>
          </p:cNvPr>
          <p:cNvSpPr/>
          <p:nvPr/>
        </p:nvSpPr>
        <p:spPr>
          <a:xfrm>
            <a:off x="326899" y="3397642"/>
            <a:ext cx="739588" cy="739588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D01084-7D96-CA60-0EC4-C435B3DF7636}"/>
              </a:ext>
            </a:extLst>
          </p:cNvPr>
          <p:cNvSpPr/>
          <p:nvPr/>
        </p:nvSpPr>
        <p:spPr>
          <a:xfrm>
            <a:off x="132405" y="4267370"/>
            <a:ext cx="739588" cy="739588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362164C-49AB-D494-693F-36A0F0A24FC9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0A32B4-531F-A018-D739-533BD14AD90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584" y="31027"/>
            <a:ext cx="1014984" cy="10149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BEC48BD-3A18-1DCA-A8AA-B57C34DD61AF}"/>
              </a:ext>
            </a:extLst>
          </p:cNvPr>
          <p:cNvSpPr txBox="1"/>
          <p:nvPr/>
        </p:nvSpPr>
        <p:spPr>
          <a:xfrm>
            <a:off x="1223295" y="2733769"/>
            <a:ext cx="770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b="1" dirty="0">
                <a:latin typeface="Krub Light" pitchFamily="2" charset="-34"/>
                <a:cs typeface="Krub Light" pitchFamily="2" charset="-34"/>
              </a:rPr>
              <a:t>OBJETIVO 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C1764DD-F323-7517-1B25-AF32C2A84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282" y="3575056"/>
            <a:ext cx="453659" cy="4536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2A45005-A9B4-6BBF-089E-65A7274C7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711" y="4387166"/>
            <a:ext cx="584015" cy="5840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0CBB5D-7136-5CA4-6582-99F7B3590185}"/>
              </a:ext>
            </a:extLst>
          </p:cNvPr>
          <p:cNvSpPr txBox="1"/>
          <p:nvPr/>
        </p:nvSpPr>
        <p:spPr>
          <a:xfrm>
            <a:off x="1295802" y="1859327"/>
            <a:ext cx="770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dirty="0">
                <a:latin typeface="Krub Light" pitchFamily="2" charset="-34"/>
                <a:cs typeface="Krub Light" pitchFamily="2" charset="-34"/>
              </a:rPr>
              <a:t>OBJETIVO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1FDF7B-EC10-4984-9A4F-D5C2531115AF}"/>
              </a:ext>
            </a:extLst>
          </p:cNvPr>
          <p:cNvSpPr txBox="1"/>
          <p:nvPr/>
        </p:nvSpPr>
        <p:spPr>
          <a:xfrm>
            <a:off x="1149436" y="3642078"/>
            <a:ext cx="770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b="1" dirty="0">
                <a:solidFill>
                  <a:schemeClr val="tx1">
                    <a:lumMod val="95000"/>
                  </a:schemeClr>
                </a:solidFill>
                <a:latin typeface="Krub Light" pitchFamily="2" charset="-34"/>
                <a:cs typeface="Krub Light" pitchFamily="2" charset="-34"/>
              </a:rPr>
              <a:t>OBJETIVO 3</a:t>
            </a:r>
            <a:endParaRPr lang="en-PT" sz="1200" dirty="0">
              <a:solidFill>
                <a:schemeClr val="tx1">
                  <a:lumMod val="95000"/>
                </a:schemeClr>
              </a:solidFill>
              <a:latin typeface="Krub Light" pitchFamily="2" charset="-34"/>
              <a:cs typeface="Krub Light" pitchFamily="2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ADCA1C-780B-A6B6-9959-54DDBE63DD25}"/>
              </a:ext>
            </a:extLst>
          </p:cNvPr>
          <p:cNvSpPr txBox="1"/>
          <p:nvPr/>
        </p:nvSpPr>
        <p:spPr>
          <a:xfrm>
            <a:off x="957370" y="4498664"/>
            <a:ext cx="770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dirty="0">
                <a:solidFill>
                  <a:schemeClr val="tx1">
                    <a:lumMod val="95000"/>
                  </a:schemeClr>
                </a:solidFill>
                <a:latin typeface="Krub Light" pitchFamily="2" charset="-34"/>
                <a:cs typeface="Krub Light" pitchFamily="2" charset="-34"/>
              </a:rPr>
              <a:t>OBJETIVO 4</a:t>
            </a:r>
          </a:p>
        </p:txBody>
      </p:sp>
    </p:spTree>
    <p:extLst>
      <p:ext uri="{BB962C8B-B14F-4D97-AF65-F5344CB8AC3E}">
        <p14:creationId xmlns:p14="http://schemas.microsoft.com/office/powerpoint/2010/main" val="2867345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4E1B8-7837-9F1A-3D75-1DE258E1F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C60E9F2-297C-DB12-FFC6-A44D50DFA655}"/>
              </a:ext>
            </a:extLst>
          </p:cNvPr>
          <p:cNvSpPr/>
          <p:nvPr/>
        </p:nvSpPr>
        <p:spPr>
          <a:xfrm>
            <a:off x="-211835" y="3459108"/>
            <a:ext cx="9355835" cy="611841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9BFD68E-0491-5E3B-E82E-43582E8C365C}"/>
              </a:ext>
            </a:extLst>
          </p:cNvPr>
          <p:cNvSpPr/>
          <p:nvPr/>
        </p:nvSpPr>
        <p:spPr>
          <a:xfrm>
            <a:off x="-1135664" y="795867"/>
            <a:ext cx="2098458" cy="44196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839ED3-738A-9906-C055-654BAB95E3B1}"/>
              </a:ext>
            </a:extLst>
          </p:cNvPr>
          <p:cNvSpPr/>
          <p:nvPr/>
        </p:nvSpPr>
        <p:spPr>
          <a:xfrm>
            <a:off x="127747" y="0"/>
            <a:ext cx="9016253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BBF1F5-8641-BD91-B988-C3B48FEDFECA}"/>
              </a:ext>
            </a:extLst>
          </p:cNvPr>
          <p:cNvSpPr txBox="1"/>
          <p:nvPr/>
        </p:nvSpPr>
        <p:spPr>
          <a:xfrm>
            <a:off x="1188720" y="212008"/>
            <a:ext cx="4254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SPRINT GOALS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A9AA3A-F4A0-4757-D24C-61DDD44E06B0}"/>
              </a:ext>
            </a:extLst>
          </p:cNvPr>
          <p:cNvSpPr/>
          <p:nvPr/>
        </p:nvSpPr>
        <p:spPr>
          <a:xfrm>
            <a:off x="409773" y="1617619"/>
            <a:ext cx="739588" cy="739588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BF80B0-0956-A15C-372B-8EB83E9A022D}"/>
              </a:ext>
            </a:extLst>
          </p:cNvPr>
          <p:cNvSpPr/>
          <p:nvPr/>
        </p:nvSpPr>
        <p:spPr>
          <a:xfrm>
            <a:off x="443641" y="2501271"/>
            <a:ext cx="739588" cy="739588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D1B3EBA-C488-DBA2-AE62-C2CAD387A872}"/>
              </a:ext>
            </a:extLst>
          </p:cNvPr>
          <p:cNvSpPr/>
          <p:nvPr/>
        </p:nvSpPr>
        <p:spPr>
          <a:xfrm>
            <a:off x="326899" y="3397642"/>
            <a:ext cx="739588" cy="739588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ACAB70-E005-4A93-2A60-DCD7828379BB}"/>
              </a:ext>
            </a:extLst>
          </p:cNvPr>
          <p:cNvSpPr/>
          <p:nvPr/>
        </p:nvSpPr>
        <p:spPr>
          <a:xfrm>
            <a:off x="132405" y="4267370"/>
            <a:ext cx="739588" cy="739588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36338F-C8B2-22D1-25FB-6D8434EE6404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2327FAC-F7AE-2ACB-22B0-BED43A3843F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584" y="31027"/>
            <a:ext cx="1014984" cy="101498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34D3855-635C-B70D-4762-7BAB84F3BFA2}"/>
              </a:ext>
            </a:extLst>
          </p:cNvPr>
          <p:cNvSpPr txBox="1"/>
          <p:nvPr/>
        </p:nvSpPr>
        <p:spPr>
          <a:xfrm>
            <a:off x="1149436" y="3642078"/>
            <a:ext cx="770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b="1" dirty="0">
                <a:latin typeface="Krub Light" pitchFamily="2" charset="-34"/>
                <a:cs typeface="Krub Light" pitchFamily="2" charset="-34"/>
              </a:rPr>
              <a:t>OBJETIVO 3</a:t>
            </a:r>
            <a:endParaRPr lang="en-PT" sz="1200" dirty="0">
              <a:latin typeface="Krub Light" pitchFamily="2" charset="-34"/>
              <a:cs typeface="Krub Light" pitchFamily="2" charset="-34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9EA14B9-5DC4-DEBA-6FE5-7B9DE2174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282" y="3575056"/>
            <a:ext cx="453659" cy="4536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E78B3E2-2784-11E7-0238-91D95F46E3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711" y="4387166"/>
            <a:ext cx="584015" cy="5840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D3E1E3-B6B3-1DE2-BDEC-0FF5E98FCFDF}"/>
              </a:ext>
            </a:extLst>
          </p:cNvPr>
          <p:cNvSpPr txBox="1"/>
          <p:nvPr/>
        </p:nvSpPr>
        <p:spPr>
          <a:xfrm>
            <a:off x="1223295" y="2733769"/>
            <a:ext cx="770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b="1" dirty="0">
                <a:latin typeface="Krub Light" pitchFamily="2" charset="-34"/>
                <a:cs typeface="Krub Light" pitchFamily="2" charset="-34"/>
              </a:rPr>
              <a:t>OBJETIVO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FCABA4-6234-1310-54AC-DBCD21F06A2D}"/>
              </a:ext>
            </a:extLst>
          </p:cNvPr>
          <p:cNvSpPr txBox="1"/>
          <p:nvPr/>
        </p:nvSpPr>
        <p:spPr>
          <a:xfrm>
            <a:off x="1295802" y="1859327"/>
            <a:ext cx="770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dirty="0">
                <a:latin typeface="Krub Light" pitchFamily="2" charset="-34"/>
                <a:cs typeface="Krub Light" pitchFamily="2" charset="-34"/>
              </a:rPr>
              <a:t>OBJETIVO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9A256-CA5E-44A2-8E8A-BF7DBD051B1C}"/>
              </a:ext>
            </a:extLst>
          </p:cNvPr>
          <p:cNvSpPr txBox="1"/>
          <p:nvPr/>
        </p:nvSpPr>
        <p:spPr>
          <a:xfrm>
            <a:off x="957370" y="4498664"/>
            <a:ext cx="770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dirty="0">
                <a:solidFill>
                  <a:schemeClr val="tx1">
                    <a:lumMod val="95000"/>
                  </a:schemeClr>
                </a:solidFill>
                <a:latin typeface="Krub Light" pitchFamily="2" charset="-34"/>
                <a:cs typeface="Krub Light" pitchFamily="2" charset="-34"/>
              </a:rPr>
              <a:t>OBJETIVO 4</a:t>
            </a:r>
          </a:p>
        </p:txBody>
      </p:sp>
    </p:spTree>
    <p:extLst>
      <p:ext uri="{BB962C8B-B14F-4D97-AF65-F5344CB8AC3E}">
        <p14:creationId xmlns:p14="http://schemas.microsoft.com/office/powerpoint/2010/main" val="474947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F2995-1EB6-142A-FAB1-35BC84195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F6B5DD2-6E6F-E2BC-A44E-34C0CA97BD17}"/>
              </a:ext>
            </a:extLst>
          </p:cNvPr>
          <p:cNvSpPr/>
          <p:nvPr/>
        </p:nvSpPr>
        <p:spPr>
          <a:xfrm>
            <a:off x="-212652" y="4330058"/>
            <a:ext cx="9355835" cy="611841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CCC99D-EC91-EDFC-694C-334C1CDD5D4E}"/>
              </a:ext>
            </a:extLst>
          </p:cNvPr>
          <p:cNvSpPr/>
          <p:nvPr/>
        </p:nvSpPr>
        <p:spPr>
          <a:xfrm>
            <a:off x="-1135664" y="795867"/>
            <a:ext cx="2098458" cy="44196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F1FC29-1215-31C8-05F6-E7B41BB3A2EB}"/>
              </a:ext>
            </a:extLst>
          </p:cNvPr>
          <p:cNvSpPr/>
          <p:nvPr/>
        </p:nvSpPr>
        <p:spPr>
          <a:xfrm>
            <a:off x="127747" y="0"/>
            <a:ext cx="9016253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00FFFC-3660-B78A-EE7C-AB62CE8BCFF3}"/>
              </a:ext>
            </a:extLst>
          </p:cNvPr>
          <p:cNvSpPr txBox="1"/>
          <p:nvPr/>
        </p:nvSpPr>
        <p:spPr>
          <a:xfrm>
            <a:off x="1188720" y="212008"/>
            <a:ext cx="4254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SPRINT GOALS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324F31-A843-87B6-8F26-E37297B081E5}"/>
              </a:ext>
            </a:extLst>
          </p:cNvPr>
          <p:cNvSpPr/>
          <p:nvPr/>
        </p:nvSpPr>
        <p:spPr>
          <a:xfrm>
            <a:off x="409773" y="1617619"/>
            <a:ext cx="739588" cy="739588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B38F7BB-B467-BAE7-1FC8-059B674EEE97}"/>
              </a:ext>
            </a:extLst>
          </p:cNvPr>
          <p:cNvSpPr/>
          <p:nvPr/>
        </p:nvSpPr>
        <p:spPr>
          <a:xfrm>
            <a:off x="443641" y="2501271"/>
            <a:ext cx="739588" cy="739588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93DDC26-0BDA-BC7C-A94B-DB4D692D918D}"/>
              </a:ext>
            </a:extLst>
          </p:cNvPr>
          <p:cNvSpPr/>
          <p:nvPr/>
        </p:nvSpPr>
        <p:spPr>
          <a:xfrm>
            <a:off x="326899" y="3397642"/>
            <a:ext cx="739588" cy="739588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D757A2-188E-0383-1608-E72220CF5AAA}"/>
              </a:ext>
            </a:extLst>
          </p:cNvPr>
          <p:cNvSpPr/>
          <p:nvPr/>
        </p:nvSpPr>
        <p:spPr>
          <a:xfrm>
            <a:off x="132405" y="4267370"/>
            <a:ext cx="739588" cy="739588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5460E46-6D18-3948-5635-9E8BA39A3843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5034F90-046F-1088-F2FE-3E494C4DF81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584" y="31027"/>
            <a:ext cx="1014984" cy="101498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6671A01-BB7D-9665-519E-12A4FF468E03}"/>
              </a:ext>
            </a:extLst>
          </p:cNvPr>
          <p:cNvSpPr txBox="1"/>
          <p:nvPr/>
        </p:nvSpPr>
        <p:spPr>
          <a:xfrm>
            <a:off x="957370" y="4498664"/>
            <a:ext cx="770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dirty="0">
                <a:latin typeface="Krub Light" pitchFamily="2" charset="-34"/>
                <a:cs typeface="Krub Light" pitchFamily="2" charset="-34"/>
              </a:rPr>
              <a:t>OBEJTIVO 4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AB96D13-18A9-41CF-C1AD-C651217504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282" y="3575056"/>
            <a:ext cx="453659" cy="4536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A5E9E28-763C-DB40-9321-7354D8E67F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711" y="4387166"/>
            <a:ext cx="584015" cy="58401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8CEC159-11C9-B0F3-6B8C-1CAE59C59F18}"/>
              </a:ext>
            </a:extLst>
          </p:cNvPr>
          <p:cNvSpPr txBox="1"/>
          <p:nvPr/>
        </p:nvSpPr>
        <p:spPr>
          <a:xfrm>
            <a:off x="1149436" y="3642078"/>
            <a:ext cx="770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b="1" dirty="0">
                <a:latin typeface="Krub Light" pitchFamily="2" charset="-34"/>
                <a:cs typeface="Krub Light" pitchFamily="2" charset="-34"/>
              </a:rPr>
              <a:t>OBJETIVO 3</a:t>
            </a:r>
            <a:endParaRPr lang="en-PT" sz="1200" dirty="0">
              <a:latin typeface="Krub Light" pitchFamily="2" charset="-34"/>
              <a:cs typeface="Krub Light" pitchFamily="2" charset="-3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AD7A3A-BB9E-2247-CA67-45378955581C}"/>
              </a:ext>
            </a:extLst>
          </p:cNvPr>
          <p:cNvSpPr txBox="1"/>
          <p:nvPr/>
        </p:nvSpPr>
        <p:spPr>
          <a:xfrm>
            <a:off x="1223295" y="2733769"/>
            <a:ext cx="770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b="1" dirty="0">
                <a:latin typeface="Krub Light" pitchFamily="2" charset="-34"/>
                <a:cs typeface="Krub Light" pitchFamily="2" charset="-34"/>
              </a:rPr>
              <a:t>OBJETIVO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0A808-A19B-3E70-801B-1AC76B328A08}"/>
              </a:ext>
            </a:extLst>
          </p:cNvPr>
          <p:cNvSpPr txBox="1"/>
          <p:nvPr/>
        </p:nvSpPr>
        <p:spPr>
          <a:xfrm>
            <a:off x="1295802" y="1859327"/>
            <a:ext cx="770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dirty="0">
                <a:latin typeface="Krub Light" pitchFamily="2" charset="-34"/>
                <a:cs typeface="Krub Light" pitchFamily="2" charset="-34"/>
              </a:rPr>
              <a:t>OBJETIVO 1</a:t>
            </a:r>
          </a:p>
        </p:txBody>
      </p:sp>
    </p:spTree>
    <p:extLst>
      <p:ext uri="{BB962C8B-B14F-4D97-AF65-F5344CB8AC3E}">
        <p14:creationId xmlns:p14="http://schemas.microsoft.com/office/powerpoint/2010/main" val="3783026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CB468-2677-F96D-57C9-4365D951B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B358F9-6176-9AA4-68D9-37F33BD03741}"/>
              </a:ext>
            </a:extLst>
          </p:cNvPr>
          <p:cNvSpPr/>
          <p:nvPr/>
        </p:nvSpPr>
        <p:spPr>
          <a:xfrm>
            <a:off x="758952" y="0"/>
            <a:ext cx="8357616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4E5318E-1722-07CC-C096-C69250C5A792}"/>
              </a:ext>
            </a:extLst>
          </p:cNvPr>
          <p:cNvSpPr/>
          <p:nvPr/>
        </p:nvSpPr>
        <p:spPr>
          <a:xfrm>
            <a:off x="-423094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34CA63-F69A-FC59-59B4-7E34D319598D}"/>
              </a:ext>
            </a:extLst>
          </p:cNvPr>
          <p:cNvSpPr txBox="1"/>
          <p:nvPr/>
        </p:nvSpPr>
        <p:spPr>
          <a:xfrm>
            <a:off x="1521948" y="212008"/>
            <a:ext cx="47712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PLANNING </a:t>
            </a: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577D108-4204-E3CF-0421-DE8ABF49A632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4427" y="-2185"/>
            <a:ext cx="1203512" cy="12035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92664D-9515-468B-25A1-FED4FCF9ECC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80029" y="4066049"/>
            <a:ext cx="865441" cy="86544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244DFAB-EC33-7AC5-C3C2-B7AEEAB718B6}"/>
              </a:ext>
            </a:extLst>
          </p:cNvPr>
          <p:cNvSpPr/>
          <p:nvPr/>
        </p:nvSpPr>
        <p:spPr>
          <a:xfrm>
            <a:off x="2737" y="2326777"/>
            <a:ext cx="9141263" cy="946308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D0E7F0-95EE-E41A-E5F5-89C113598A55}"/>
              </a:ext>
            </a:extLst>
          </p:cNvPr>
          <p:cNvSpPr txBox="1"/>
          <p:nvPr/>
        </p:nvSpPr>
        <p:spPr>
          <a:xfrm rot="16200000">
            <a:off x="-604765" y="2646043"/>
            <a:ext cx="1475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SPRINT 2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3E20C20-6433-F86A-61CA-54745453003E}"/>
              </a:ext>
            </a:extLst>
          </p:cNvPr>
          <p:cNvSpPr/>
          <p:nvPr/>
        </p:nvSpPr>
        <p:spPr>
          <a:xfrm>
            <a:off x="3610879" y="1585615"/>
            <a:ext cx="1922242" cy="499040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b="1" dirty="0">
                <a:latin typeface="Krub" pitchFamily="2" charset="-34"/>
                <a:cs typeface="Krub" pitchFamily="2" charset="-34"/>
              </a:rPr>
              <a:t>28</a:t>
            </a:r>
            <a:r>
              <a:rPr lang="en-PT" dirty="0">
                <a:latin typeface="Krub" pitchFamily="2" charset="-34"/>
                <a:cs typeface="Krub" pitchFamily="2" charset="-34"/>
              </a:rPr>
              <a:t> </a:t>
            </a:r>
            <a:r>
              <a:rPr lang="en-PT" b="1" dirty="0">
                <a:latin typeface="Krub" pitchFamily="2" charset="-34"/>
                <a:cs typeface="Krub" pitchFamily="2" charset="-34"/>
              </a:rPr>
              <a:t>User Stories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22679D8-88D8-DD4D-738D-1E13BFDE3BFA}"/>
              </a:ext>
            </a:extLst>
          </p:cNvPr>
          <p:cNvGrpSpPr/>
          <p:nvPr/>
        </p:nvGrpSpPr>
        <p:grpSpPr>
          <a:xfrm>
            <a:off x="2556315" y="2554773"/>
            <a:ext cx="3764392" cy="533956"/>
            <a:chOff x="2556315" y="2376357"/>
            <a:chExt cx="3764392" cy="533956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A038DB9-8C94-8B1A-970F-37298D85E98D}"/>
                </a:ext>
              </a:extLst>
            </p:cNvPr>
            <p:cNvSpPr/>
            <p:nvPr/>
          </p:nvSpPr>
          <p:spPr>
            <a:xfrm>
              <a:off x="2823293" y="2394295"/>
              <a:ext cx="3497414" cy="499040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b="1" dirty="0">
                  <a:latin typeface="Krub" pitchFamily="2" charset="-34"/>
                  <a:cs typeface="Krub" pitchFamily="2" charset="-34"/>
                </a:rPr>
                <a:t>Implementation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D3248CA-6BC8-4EBE-9BA3-199BE752D10C}"/>
                </a:ext>
              </a:extLst>
            </p:cNvPr>
            <p:cNvSpPr/>
            <p:nvPr/>
          </p:nvSpPr>
          <p:spPr>
            <a:xfrm>
              <a:off x="2556315" y="2376357"/>
              <a:ext cx="533956" cy="5339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BB06039-659E-5795-EC5C-39D997ACF376}"/>
              </a:ext>
            </a:extLst>
          </p:cNvPr>
          <p:cNvSpPr txBox="1"/>
          <p:nvPr/>
        </p:nvSpPr>
        <p:spPr>
          <a:xfrm>
            <a:off x="2506332" y="2180835"/>
            <a:ext cx="6339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6000" b="1" dirty="0">
                <a:solidFill>
                  <a:srgbClr val="00B050"/>
                </a:solidFill>
              </a:rPr>
              <a:t>✓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2485C3-3B8E-46A0-C962-161561A6D73E}"/>
              </a:ext>
            </a:extLst>
          </p:cNvPr>
          <p:cNvCxnSpPr>
            <a:stCxn id="7" idx="2"/>
            <a:endCxn id="14" idx="0"/>
          </p:cNvCxnSpPr>
          <p:nvPr/>
        </p:nvCxnSpPr>
        <p:spPr>
          <a:xfrm>
            <a:off x="4572000" y="2084655"/>
            <a:ext cx="0" cy="48805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E0E2B38-5E0C-6297-8EFB-8B2802F7465E}"/>
              </a:ext>
            </a:extLst>
          </p:cNvPr>
          <p:cNvSpPr txBox="1"/>
          <p:nvPr/>
        </p:nvSpPr>
        <p:spPr>
          <a:xfrm>
            <a:off x="6320707" y="2570789"/>
            <a:ext cx="159050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/>
              <a:buChar char="-"/>
            </a:pPr>
            <a:r>
              <a:rPr lang="en-PT" sz="900" dirty="0">
                <a:latin typeface="Krub Light" pitchFamily="2" charset="-34"/>
                <a:cs typeface="Krub Light" pitchFamily="2" charset="-34"/>
              </a:rPr>
              <a:t>100% US implemented</a:t>
            </a:r>
          </a:p>
          <a:p>
            <a:pPr marL="171450" indent="-171450">
              <a:buFont typeface="Arial"/>
              <a:buChar char="-"/>
            </a:pPr>
            <a:r>
              <a:rPr lang="en-PT" sz="900" dirty="0">
                <a:latin typeface="Krub Light" pitchFamily="2" charset="-34"/>
                <a:cs typeface="Krub Light" pitchFamily="2" charset="-34"/>
              </a:rPr>
              <a:t>Tests coverage &gt;95%</a:t>
            </a:r>
          </a:p>
          <a:p>
            <a:pPr marL="171450" indent="-171450">
              <a:buFont typeface="Arial"/>
              <a:buChar char="-"/>
            </a:pPr>
            <a:r>
              <a:rPr lang="en-PT" sz="900" dirty="0">
                <a:latin typeface="Krub Light" pitchFamily="2" charset="-34"/>
                <a:cs typeface="Krub Light" pitchFamily="2" charset="-34"/>
              </a:rPr>
              <a:t>DTOs </a:t>
            </a:r>
          </a:p>
        </p:txBody>
      </p:sp>
    </p:spTree>
    <p:extLst>
      <p:ext uri="{BB962C8B-B14F-4D97-AF65-F5344CB8AC3E}">
        <p14:creationId xmlns:p14="http://schemas.microsoft.com/office/powerpoint/2010/main" val="1167372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6D03D-81DF-5ED5-488D-C1D459281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FE18FF8-38A1-4C59-CE21-D586A0F9D199}"/>
              </a:ext>
            </a:extLst>
          </p:cNvPr>
          <p:cNvSpPr/>
          <p:nvPr/>
        </p:nvSpPr>
        <p:spPr>
          <a:xfrm>
            <a:off x="758952" y="0"/>
            <a:ext cx="8357616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AD346B8-11F5-9AEE-C295-85910121ED14}"/>
              </a:ext>
            </a:extLst>
          </p:cNvPr>
          <p:cNvSpPr/>
          <p:nvPr/>
        </p:nvSpPr>
        <p:spPr>
          <a:xfrm>
            <a:off x="-423094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A81A67-494F-6694-E803-897CF96C5ADA}"/>
              </a:ext>
            </a:extLst>
          </p:cNvPr>
          <p:cNvSpPr txBox="1"/>
          <p:nvPr/>
        </p:nvSpPr>
        <p:spPr>
          <a:xfrm>
            <a:off x="1521948" y="212008"/>
            <a:ext cx="47712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PLANNING </a:t>
            </a: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E8E08AE-25F1-14EB-E97E-058C2C5717F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4427" y="-2185"/>
            <a:ext cx="1203512" cy="12035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CF71CA-942D-38EF-00DF-81FAB149F970}"/>
              </a:ext>
            </a:extLst>
          </p:cNvPr>
          <p:cNvSpPr txBox="1"/>
          <p:nvPr/>
        </p:nvSpPr>
        <p:spPr>
          <a:xfrm rot="16200000">
            <a:off x="-604765" y="2668343"/>
            <a:ext cx="1475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SPRINT 2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DD07563-9C0A-A11E-5362-A80CBC6A9FD6}"/>
              </a:ext>
            </a:extLst>
          </p:cNvPr>
          <p:cNvSpPr/>
          <p:nvPr/>
        </p:nvSpPr>
        <p:spPr>
          <a:xfrm>
            <a:off x="3610879" y="1585615"/>
            <a:ext cx="1922242" cy="499040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b="1" dirty="0">
                <a:latin typeface="Krub" pitchFamily="2" charset="-34"/>
                <a:cs typeface="Krub" pitchFamily="2" charset="-34"/>
              </a:rPr>
              <a:t>28</a:t>
            </a:r>
            <a:r>
              <a:rPr lang="en-PT" dirty="0">
                <a:latin typeface="Krub" pitchFamily="2" charset="-34"/>
                <a:cs typeface="Krub" pitchFamily="2" charset="-34"/>
              </a:rPr>
              <a:t> </a:t>
            </a:r>
            <a:r>
              <a:rPr lang="en-PT" b="1" dirty="0">
                <a:latin typeface="Krub" pitchFamily="2" charset="-34"/>
                <a:cs typeface="Krub" pitchFamily="2" charset="-34"/>
              </a:rPr>
              <a:t>User Stories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65DB0F-A3E4-ECB4-8D26-6A4FD1537BFE}"/>
              </a:ext>
            </a:extLst>
          </p:cNvPr>
          <p:cNvGrpSpPr/>
          <p:nvPr/>
        </p:nvGrpSpPr>
        <p:grpSpPr>
          <a:xfrm>
            <a:off x="2556315" y="2554773"/>
            <a:ext cx="3764392" cy="533956"/>
            <a:chOff x="2556315" y="2376357"/>
            <a:chExt cx="3764392" cy="533956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1B9AC86B-88F3-A368-B90C-0CF84D56ABE8}"/>
                </a:ext>
              </a:extLst>
            </p:cNvPr>
            <p:cNvSpPr/>
            <p:nvPr/>
          </p:nvSpPr>
          <p:spPr>
            <a:xfrm>
              <a:off x="2823293" y="2394295"/>
              <a:ext cx="3497414" cy="499040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b="1" dirty="0">
                  <a:latin typeface="Krub" pitchFamily="2" charset="-34"/>
                  <a:cs typeface="Krub" pitchFamily="2" charset="-34"/>
                </a:rPr>
                <a:t>Implementation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2933A23-2782-BF15-B92D-77200EEC1B1E}"/>
                </a:ext>
              </a:extLst>
            </p:cNvPr>
            <p:cNvSpPr/>
            <p:nvPr/>
          </p:nvSpPr>
          <p:spPr>
            <a:xfrm>
              <a:off x="2556315" y="2376357"/>
              <a:ext cx="533956" cy="5339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DC83CF8-5AC0-3D54-5A5A-DE232E26D827}"/>
              </a:ext>
            </a:extLst>
          </p:cNvPr>
          <p:cNvSpPr txBox="1"/>
          <p:nvPr/>
        </p:nvSpPr>
        <p:spPr>
          <a:xfrm>
            <a:off x="2506332" y="2180835"/>
            <a:ext cx="6339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6000" b="1" dirty="0">
                <a:solidFill>
                  <a:srgbClr val="00B050"/>
                </a:solidFill>
              </a:rPr>
              <a:t>✓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00DCDB6-51FB-4AB2-31E2-019D622E35AC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4572000" y="2084655"/>
            <a:ext cx="0" cy="48805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2D3A7FA-5F5E-9F69-1055-B3EF71F9693A}"/>
              </a:ext>
            </a:extLst>
          </p:cNvPr>
          <p:cNvSpPr/>
          <p:nvPr/>
        </p:nvSpPr>
        <p:spPr>
          <a:xfrm>
            <a:off x="-3616" y="3609906"/>
            <a:ext cx="9141263" cy="946308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070844-09BA-715B-623A-5305A3DFDEB4}"/>
              </a:ext>
            </a:extLst>
          </p:cNvPr>
          <p:cNvSpPr txBox="1"/>
          <p:nvPr/>
        </p:nvSpPr>
        <p:spPr>
          <a:xfrm rot="16200000">
            <a:off x="-611118" y="3929172"/>
            <a:ext cx="1475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SPRINT 3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8CA7B19-FB55-2222-FA56-9E4DF0F1D7E9}"/>
              </a:ext>
            </a:extLst>
          </p:cNvPr>
          <p:cNvCxnSpPr>
            <a:cxnSpLocks/>
          </p:cNvCxnSpPr>
          <p:nvPr/>
        </p:nvCxnSpPr>
        <p:spPr>
          <a:xfrm>
            <a:off x="4564213" y="3065917"/>
            <a:ext cx="0" cy="71670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0E8592D-D45D-CDB2-61F6-E245D8194124}"/>
              </a:ext>
            </a:extLst>
          </p:cNvPr>
          <p:cNvCxnSpPr>
            <a:cxnSpLocks/>
          </p:cNvCxnSpPr>
          <p:nvPr/>
        </p:nvCxnSpPr>
        <p:spPr>
          <a:xfrm>
            <a:off x="2454227" y="3782620"/>
            <a:ext cx="42336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2A3CEA4-FCEB-766C-6FAC-E6A553F70DDF}"/>
              </a:ext>
            </a:extLst>
          </p:cNvPr>
          <p:cNvSpPr/>
          <p:nvPr/>
        </p:nvSpPr>
        <p:spPr>
          <a:xfrm>
            <a:off x="1329328" y="3946509"/>
            <a:ext cx="2281551" cy="499040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b="1" dirty="0">
                <a:latin typeface="Krub" pitchFamily="2" charset="-34"/>
                <a:cs typeface="Krub" pitchFamily="2" charset="-34"/>
              </a:rPr>
              <a:t>Factories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5FFC59F-8C4D-D0E1-CFA7-F78F77E60996}"/>
              </a:ext>
            </a:extLst>
          </p:cNvPr>
          <p:cNvSpPr/>
          <p:nvPr/>
        </p:nvSpPr>
        <p:spPr>
          <a:xfrm>
            <a:off x="5533121" y="3939866"/>
            <a:ext cx="2281551" cy="499040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b="1" dirty="0">
                <a:latin typeface="Krub" pitchFamily="2" charset="-34"/>
                <a:cs typeface="Krub" pitchFamily="2" charset="-34"/>
              </a:rPr>
              <a:t>Mock Tests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A16868A-2C8E-069D-C6DA-F1E73E071344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6673897" y="3782620"/>
            <a:ext cx="0" cy="15724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6BD5ED2-0937-EA2B-FEFF-3129AF20D259}"/>
              </a:ext>
            </a:extLst>
          </p:cNvPr>
          <p:cNvCxnSpPr>
            <a:cxnSpLocks/>
          </p:cNvCxnSpPr>
          <p:nvPr/>
        </p:nvCxnSpPr>
        <p:spPr>
          <a:xfrm>
            <a:off x="2466928" y="3782620"/>
            <a:ext cx="1" cy="16388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86B1D93-7890-99D3-2EF2-F02433FC651C}"/>
              </a:ext>
            </a:extLst>
          </p:cNvPr>
          <p:cNvSpPr txBox="1"/>
          <p:nvPr/>
        </p:nvSpPr>
        <p:spPr>
          <a:xfrm>
            <a:off x="6320707" y="2570789"/>
            <a:ext cx="159050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/>
              <a:buChar char="-"/>
            </a:pPr>
            <a:r>
              <a:rPr lang="en-PT" sz="900" dirty="0">
                <a:latin typeface="Krub Light" pitchFamily="2" charset="-34"/>
                <a:cs typeface="Krub Light" pitchFamily="2" charset="-34"/>
              </a:rPr>
              <a:t>100% US implemented</a:t>
            </a:r>
          </a:p>
          <a:p>
            <a:pPr marL="171450" indent="-171450">
              <a:buFont typeface="Arial"/>
              <a:buChar char="-"/>
            </a:pPr>
            <a:r>
              <a:rPr lang="en-PT" sz="900" dirty="0">
                <a:latin typeface="Krub Light" pitchFamily="2" charset="-34"/>
                <a:cs typeface="Krub Light" pitchFamily="2" charset="-34"/>
              </a:rPr>
              <a:t>Tests coverage &gt;95%</a:t>
            </a:r>
          </a:p>
          <a:p>
            <a:pPr marL="171450" indent="-171450">
              <a:buFont typeface="Arial"/>
              <a:buChar char="-"/>
            </a:pPr>
            <a:r>
              <a:rPr lang="en-PT" sz="900" dirty="0">
                <a:latin typeface="Krub Light" pitchFamily="2" charset="-34"/>
                <a:cs typeface="Krub Light" pitchFamily="2" charset="-34"/>
              </a:rPr>
              <a:t>DTOs </a:t>
            </a:r>
          </a:p>
        </p:txBody>
      </p:sp>
    </p:spTree>
    <p:extLst>
      <p:ext uri="{BB962C8B-B14F-4D97-AF65-F5344CB8AC3E}">
        <p14:creationId xmlns:p14="http://schemas.microsoft.com/office/powerpoint/2010/main" val="41459001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54B8C-D114-F473-DB05-83190BAAC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D4861EF-CBD5-B402-A7C5-94526F3CF2CC}"/>
              </a:ext>
            </a:extLst>
          </p:cNvPr>
          <p:cNvSpPr/>
          <p:nvPr/>
        </p:nvSpPr>
        <p:spPr>
          <a:xfrm>
            <a:off x="758952" y="0"/>
            <a:ext cx="8357616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C10E3D8-5AB2-582D-5638-E1A7BCD73DF3}"/>
              </a:ext>
            </a:extLst>
          </p:cNvPr>
          <p:cNvSpPr/>
          <p:nvPr/>
        </p:nvSpPr>
        <p:spPr>
          <a:xfrm>
            <a:off x="-423094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795E43-4393-59AA-A7E5-C66CABD82244}"/>
              </a:ext>
            </a:extLst>
          </p:cNvPr>
          <p:cNvSpPr txBox="1"/>
          <p:nvPr/>
        </p:nvSpPr>
        <p:spPr>
          <a:xfrm>
            <a:off x="1521948" y="212008"/>
            <a:ext cx="47712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PLANNING </a:t>
            </a: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1978205-D878-12C7-6306-3FFFD8A07303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4427" y="-2185"/>
            <a:ext cx="1203512" cy="120351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CC6405F-ACDF-1EED-E1AD-DD4EEB9B7A75}"/>
              </a:ext>
            </a:extLst>
          </p:cNvPr>
          <p:cNvCxnSpPr>
            <a:cxnSpLocks/>
          </p:cNvCxnSpPr>
          <p:nvPr/>
        </p:nvCxnSpPr>
        <p:spPr>
          <a:xfrm>
            <a:off x="4572000" y="1538868"/>
            <a:ext cx="0" cy="3269664"/>
          </a:xfrm>
          <a:prstGeom prst="line">
            <a:avLst/>
          </a:prstGeom>
          <a:ln w="285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848CE8A-9D60-6FF6-15D9-88C72576715B}"/>
              </a:ext>
            </a:extLst>
          </p:cNvPr>
          <p:cNvSpPr/>
          <p:nvPr/>
        </p:nvSpPr>
        <p:spPr>
          <a:xfrm>
            <a:off x="1121172" y="1538868"/>
            <a:ext cx="2281551" cy="499040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b="1" dirty="0">
                <a:latin typeface="Krub" pitchFamily="2" charset="-34"/>
                <a:cs typeface="Krub" pitchFamily="2" charset="-34"/>
              </a:rPr>
              <a:t>Factories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81EE1E9-7E8C-30B0-7064-5FE5F0D1FBC6}"/>
              </a:ext>
            </a:extLst>
          </p:cNvPr>
          <p:cNvSpPr/>
          <p:nvPr/>
        </p:nvSpPr>
        <p:spPr>
          <a:xfrm>
            <a:off x="5741278" y="1538868"/>
            <a:ext cx="2281551" cy="499040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b="1" dirty="0">
                <a:latin typeface="Krub" pitchFamily="2" charset="-34"/>
                <a:cs typeface="Krub" pitchFamily="2" charset="-34"/>
              </a:rPr>
              <a:t>Mock Tests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36F03E-FBF7-57FB-ECC1-9B23BB18E2F8}"/>
              </a:ext>
            </a:extLst>
          </p:cNvPr>
          <p:cNvSpPr txBox="1"/>
          <p:nvPr/>
        </p:nvSpPr>
        <p:spPr>
          <a:xfrm>
            <a:off x="347072" y="2350292"/>
            <a:ext cx="3957295" cy="925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Font typeface="Wingdings" pitchFamily="2" charset="2"/>
              <a:buChar char="v"/>
            </a:pPr>
            <a:r>
              <a:rPr lang="pt-PT" sz="900" b="1" dirty="0">
                <a:latin typeface="Krub Light" pitchFamily="2" charset="-34"/>
                <a:cs typeface="Krub Light" pitchFamily="2" charset="-34"/>
              </a:rPr>
              <a:t>Quantidade total de </a:t>
            </a:r>
            <a:r>
              <a:rPr lang="pt-PT" sz="900" b="1" dirty="0" err="1">
                <a:latin typeface="Krub Light" pitchFamily="2" charset="-34"/>
                <a:cs typeface="Krub Light" pitchFamily="2" charset="-34"/>
              </a:rPr>
              <a:t>factories</a:t>
            </a:r>
            <a:r>
              <a:rPr lang="pt-PT" sz="900" b="1" dirty="0">
                <a:latin typeface="Krub Light" pitchFamily="2" charset="-34"/>
                <a:cs typeface="Krub Light" pitchFamily="2" charset="-34"/>
              </a:rPr>
              <a:t> a serem criadas</a:t>
            </a: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Font typeface="Wingdings" pitchFamily="2" charset="2"/>
              <a:buChar char="v"/>
            </a:pP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800" dirty="0">
                <a:latin typeface="Krub Light" pitchFamily="2" charset="-34"/>
                <a:cs typeface="Krub Light" pitchFamily="2" charset="-34"/>
              </a:rPr>
              <a:t>O </a:t>
            </a:r>
            <a:r>
              <a:rPr lang="en-GB" sz="800" dirty="0" err="1">
                <a:latin typeface="Krub Light" pitchFamily="2" charset="-34"/>
                <a:cs typeface="Krub Light" pitchFamily="2" charset="-34"/>
              </a:rPr>
              <a:t>membro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 </a:t>
            </a:r>
            <a:r>
              <a:rPr lang="en-GB" sz="800" dirty="0" err="1">
                <a:latin typeface="Krub Light" pitchFamily="2" charset="-34"/>
                <a:cs typeface="Krub Light" pitchFamily="2" charset="-34"/>
              </a:rPr>
              <a:t>responsável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 pela US seria </a:t>
            </a:r>
            <a:r>
              <a:rPr lang="en-GB" sz="800" dirty="0" err="1">
                <a:latin typeface="Krub Light" pitchFamily="2" charset="-34"/>
                <a:cs typeface="Krub Light" pitchFamily="2" charset="-34"/>
              </a:rPr>
              <a:t>responsável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 </a:t>
            </a:r>
            <a:r>
              <a:rPr lang="en-GB" sz="800" dirty="0" err="1">
                <a:latin typeface="Krub Light" pitchFamily="2" charset="-34"/>
                <a:cs typeface="Krub Light" pitchFamily="2" charset="-34"/>
              </a:rPr>
              <a:t>por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 </a:t>
            </a:r>
            <a:r>
              <a:rPr lang="en-GB" sz="800" dirty="0" err="1">
                <a:latin typeface="Krub Light" pitchFamily="2" charset="-34"/>
                <a:cs typeface="Krub Light" pitchFamily="2" charset="-34"/>
              </a:rPr>
              <a:t>criar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 </a:t>
            </a:r>
            <a:r>
              <a:rPr lang="en-GB" sz="800" dirty="0" err="1">
                <a:latin typeface="Krub Light" pitchFamily="2" charset="-34"/>
                <a:cs typeface="Krub Light" pitchFamily="2" charset="-34"/>
              </a:rPr>
              <a:t>sua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 FACTORY</a:t>
            </a: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endParaRPr lang="en-PT" sz="900" dirty="0">
              <a:latin typeface="Krub Light" pitchFamily="2" charset="-34"/>
              <a:cs typeface="Krub Ligh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40430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D3543-6EC1-0221-B869-F569CC77F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FF41147-23E3-9532-0BDE-141144694785}"/>
              </a:ext>
            </a:extLst>
          </p:cNvPr>
          <p:cNvSpPr/>
          <p:nvPr/>
        </p:nvSpPr>
        <p:spPr>
          <a:xfrm>
            <a:off x="758952" y="0"/>
            <a:ext cx="8357616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DD03037-545A-89A1-7360-74FE4C3DEBEB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CB02EBD-64DE-559A-1B7C-0745FE34F67C}"/>
              </a:ext>
            </a:extLst>
          </p:cNvPr>
          <p:cNvSpPr/>
          <p:nvPr/>
        </p:nvSpPr>
        <p:spPr>
          <a:xfrm>
            <a:off x="347072" y="1968959"/>
            <a:ext cx="2609709" cy="2936680"/>
          </a:xfrm>
          <a:prstGeom prst="roundRect">
            <a:avLst>
              <a:gd name="adj" fmla="val 5490"/>
            </a:avLst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7019B-A9B4-2F4B-E725-6F00AEC3B614}"/>
              </a:ext>
            </a:extLst>
          </p:cNvPr>
          <p:cNvSpPr txBox="1"/>
          <p:nvPr/>
        </p:nvSpPr>
        <p:spPr>
          <a:xfrm>
            <a:off x="347072" y="2350292"/>
            <a:ext cx="2609709" cy="2082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Font typeface="Wingdings" pitchFamily="2" charset="2"/>
              <a:buChar char="v"/>
            </a:pPr>
            <a:r>
              <a:rPr lang="en-PT" sz="900" b="1" dirty="0">
                <a:latin typeface="Krub Light" pitchFamily="2" charset="-34"/>
                <a:cs typeface="Krub Light" pitchFamily="2" charset="-34"/>
              </a:rPr>
              <a:t>Main:  </a:t>
            </a:r>
            <a:r>
              <a:rPr lang="en-GB" sz="900" dirty="0">
                <a:latin typeface="Krub Light" pitchFamily="2" charset="-34"/>
                <a:cs typeface="Krub Light" pitchFamily="2" charset="-34"/>
              </a:rPr>
              <a:t>Refinement - [Domain Class] - [Brief Description of Change]</a:t>
            </a: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Font typeface="Wingdings" pitchFamily="2" charset="2"/>
              <a:buChar char="v"/>
            </a:pP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800" b="1" dirty="0"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PT" sz="800" dirty="0"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US# - Analysis &amp; Design</a:t>
            </a:r>
            <a:endParaRPr lang="en-PT" sz="8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800" b="1" dirty="0"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PT" sz="800" dirty="0">
                <a:latin typeface="Krub Light" pitchFamily="2" charset="-34"/>
                <a:cs typeface="Krub Light" pitchFamily="2" charset="-34"/>
              </a:rPr>
              <a:t>: US# - 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Implementation and Unit Tests </a:t>
            </a: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Font typeface="Wingdings" pitchFamily="2" charset="2"/>
              <a:buChar char="v"/>
            </a:pPr>
            <a:r>
              <a:rPr lang="en-PT" sz="900" b="1" dirty="0">
                <a:latin typeface="Krub Light" pitchFamily="2" charset="-34"/>
                <a:cs typeface="Krub Light" pitchFamily="2" charset="-34"/>
              </a:rPr>
              <a:t>Acceptance Criteria:</a:t>
            </a:r>
          </a:p>
          <a:p>
            <a:pPr marL="227013" indent="-227013" algn="just">
              <a:buFont typeface="Wingdings" pitchFamily="2" charset="2"/>
              <a:buChar char="v"/>
            </a:pP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800" dirty="0">
                <a:latin typeface="Krub Light" pitchFamily="2" charset="-34"/>
                <a:cs typeface="Krub Light" pitchFamily="2" charset="-34"/>
              </a:rPr>
              <a:t>Architecture &amp; Responsibilities</a:t>
            </a: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800" dirty="0">
                <a:latin typeface="Krub Light" pitchFamily="2" charset="-34"/>
                <a:cs typeface="Krub Light" pitchFamily="2" charset="-34"/>
              </a:rPr>
              <a:t>Documentation &amp; Diagrams</a:t>
            </a: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800" dirty="0">
                <a:latin typeface="Krub Light" pitchFamily="2" charset="-34"/>
                <a:cs typeface="Krub Light" pitchFamily="2" charset="-34"/>
              </a:rPr>
              <a:t>Quality &amp; Validation</a:t>
            </a:r>
            <a:endParaRPr lang="en-PT" sz="800" dirty="0">
              <a:latin typeface="Krub Light" pitchFamily="2" charset="-34"/>
              <a:cs typeface="Krub Light" pitchFamily="2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A35380-D173-0342-9694-758A9CD134FA}"/>
              </a:ext>
            </a:extLst>
          </p:cNvPr>
          <p:cNvSpPr txBox="1"/>
          <p:nvPr/>
        </p:nvSpPr>
        <p:spPr>
          <a:xfrm>
            <a:off x="894327" y="2001409"/>
            <a:ext cx="1475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REFINEMENT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657170-5A5D-3205-A251-83F0B51B2F88}"/>
              </a:ext>
            </a:extLst>
          </p:cNvPr>
          <p:cNvSpPr txBox="1"/>
          <p:nvPr/>
        </p:nvSpPr>
        <p:spPr>
          <a:xfrm>
            <a:off x="1541217" y="185839"/>
            <a:ext cx="7341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PROCESS STANDARDIZATION</a:t>
            </a:r>
            <a:endParaRPr lang="en-PT" sz="4000" b="1" dirty="0">
              <a:solidFill>
                <a:schemeClr val="tx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Krub SemiBold" pitchFamily="2" charset="-34"/>
              <a:cs typeface="Krub SemiBold" pitchFamily="2" charset="-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F339B6-9D95-F86E-430C-0237927F29E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774" y="126811"/>
            <a:ext cx="971082" cy="9710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D52FD8-2B47-DDAB-4E14-2223F64EAF2E}"/>
              </a:ext>
            </a:extLst>
          </p:cNvPr>
          <p:cNvSpPr txBox="1"/>
          <p:nvPr/>
        </p:nvSpPr>
        <p:spPr>
          <a:xfrm>
            <a:off x="2943176" y="1164227"/>
            <a:ext cx="3257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24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Issues management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4B58DE-5FC3-DC82-FC18-92F78A508917}"/>
              </a:ext>
            </a:extLst>
          </p:cNvPr>
          <p:cNvSpPr txBox="1"/>
          <p:nvPr/>
        </p:nvSpPr>
        <p:spPr>
          <a:xfrm>
            <a:off x="3267145" y="2302337"/>
            <a:ext cx="2609709" cy="2243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r>
              <a:rPr lang="en-PT" sz="9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Main</a:t>
            </a:r>
            <a:r>
              <a:rPr lang="en-PT" sz="9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9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Creation of [Name]Factory Class</a:t>
            </a:r>
          </a:p>
          <a:p>
            <a:pPr algn="just">
              <a:buClr>
                <a:schemeClr val="tx1">
                  <a:lumMod val="85000"/>
                </a:schemeClr>
              </a:buClr>
            </a:pP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PT" sz="8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PT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Refactor SD &amp; CD diagrams to include Factory in the design</a:t>
            </a:r>
            <a:endParaRPr lang="en-PT" sz="8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PT" sz="8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PT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Implement Factory Class methods &amp; tests</a:t>
            </a:r>
            <a:endParaRPr lang="en-PT" sz="8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r>
              <a:rPr lang="en-PT" sz="9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Acceptance Criteria:</a:t>
            </a:r>
          </a:p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lvl="4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Diagrams are reviewed and approved by the team</a:t>
            </a:r>
          </a:p>
          <a:p>
            <a:pPr marL="493713" lvl="4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Factory methods were implemented following OOD best practices</a:t>
            </a:r>
            <a:endParaRPr lang="en-PT" sz="8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4A6EB4-4F2A-D9AB-FB4C-2E3F7654F224}"/>
              </a:ext>
            </a:extLst>
          </p:cNvPr>
          <p:cNvSpPr txBox="1"/>
          <p:nvPr/>
        </p:nvSpPr>
        <p:spPr>
          <a:xfrm>
            <a:off x="3834423" y="1994560"/>
            <a:ext cx="1475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b="1" dirty="0">
                <a:solidFill>
                  <a:schemeClr val="tx1">
                    <a:lumMod val="9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FACTORIES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7C1106-2F63-9A26-E2C9-C5921937FCF6}"/>
              </a:ext>
            </a:extLst>
          </p:cNvPr>
          <p:cNvSpPr txBox="1"/>
          <p:nvPr/>
        </p:nvSpPr>
        <p:spPr>
          <a:xfrm>
            <a:off x="6187219" y="2334242"/>
            <a:ext cx="2609709" cy="245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r>
              <a:rPr lang="en-PT" sz="9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Main</a:t>
            </a:r>
            <a:r>
              <a:rPr lang="en-PT" sz="9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9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Mock implementation related to US#</a:t>
            </a: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GB" sz="8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Implement mocking to domain class tests</a:t>
            </a: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PT" sz="8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PT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Implement mocking to repository class tests</a:t>
            </a: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GB" sz="8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Implement mocking to controller class tests.</a:t>
            </a: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r>
              <a:rPr lang="en-PT" sz="9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Acceptance Criteria:</a:t>
            </a:r>
          </a:p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endParaRPr lang="en-PT" sz="900" b="1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lvl="4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Mocks simulate realistic success, validation errors, and system failures.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D70957-78CD-DBDD-5EFE-ADAEF2A40F4B}"/>
              </a:ext>
            </a:extLst>
          </p:cNvPr>
          <p:cNvSpPr txBox="1"/>
          <p:nvPr/>
        </p:nvSpPr>
        <p:spPr>
          <a:xfrm>
            <a:off x="6754497" y="2026465"/>
            <a:ext cx="1475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>
                  <a:lumMod val="85000"/>
                </a:schemeClr>
              </a:buClr>
            </a:pPr>
            <a:r>
              <a:rPr lang="en-PT" b="1" dirty="0">
                <a:solidFill>
                  <a:schemeClr val="tx1">
                    <a:lumMod val="9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MOCK TESTS</a:t>
            </a:r>
          </a:p>
        </p:txBody>
      </p:sp>
    </p:spTree>
    <p:extLst>
      <p:ext uri="{BB962C8B-B14F-4D97-AF65-F5344CB8AC3E}">
        <p14:creationId xmlns:p14="http://schemas.microsoft.com/office/powerpoint/2010/main" val="787341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FCB73-A408-D8FE-CE07-95D33C8EB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12E5C7-1A41-4ACC-3237-A945E498694C}"/>
              </a:ext>
            </a:extLst>
          </p:cNvPr>
          <p:cNvSpPr/>
          <p:nvPr/>
        </p:nvSpPr>
        <p:spPr>
          <a:xfrm>
            <a:off x="758952" y="0"/>
            <a:ext cx="8357616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5DC0489-E8D8-58D2-4550-4A1AC2E5A500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F24738-A210-0ECE-98D6-AA5F22050C87}"/>
              </a:ext>
            </a:extLst>
          </p:cNvPr>
          <p:cNvSpPr txBox="1"/>
          <p:nvPr/>
        </p:nvSpPr>
        <p:spPr>
          <a:xfrm>
            <a:off x="1521948" y="218682"/>
            <a:ext cx="7341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PROCESS STANDARDIZATION</a:t>
            </a:r>
            <a:endParaRPr lang="en-PT" sz="4000" b="1" dirty="0">
              <a:solidFill>
                <a:schemeClr val="tx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Krub SemiBold" pitchFamily="2" charset="-34"/>
              <a:cs typeface="Krub SemiBold" pitchFamily="2" charset="-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FD50A2-8833-4E05-E0D0-60AA09C33FF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774" y="126811"/>
            <a:ext cx="971082" cy="971082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6C59A34-5537-157C-6D44-FC8FE9E971E9}"/>
              </a:ext>
            </a:extLst>
          </p:cNvPr>
          <p:cNvSpPr/>
          <p:nvPr/>
        </p:nvSpPr>
        <p:spPr>
          <a:xfrm>
            <a:off x="3267145" y="1968959"/>
            <a:ext cx="2609709" cy="2936680"/>
          </a:xfrm>
          <a:prstGeom prst="roundRect">
            <a:avLst>
              <a:gd name="adj" fmla="val 5490"/>
            </a:avLst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B24BFF-9829-F71D-C8E8-FB84D6A195E8}"/>
              </a:ext>
            </a:extLst>
          </p:cNvPr>
          <p:cNvSpPr txBox="1"/>
          <p:nvPr/>
        </p:nvSpPr>
        <p:spPr>
          <a:xfrm>
            <a:off x="3267145" y="2302337"/>
            <a:ext cx="2609709" cy="2243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Font typeface="Wingdings" pitchFamily="2" charset="2"/>
              <a:buChar char="v"/>
            </a:pPr>
            <a:r>
              <a:rPr lang="en-PT" sz="900" b="1" dirty="0">
                <a:latin typeface="Krub Light" pitchFamily="2" charset="-34"/>
                <a:cs typeface="Krub Light" pitchFamily="2" charset="-34"/>
              </a:rPr>
              <a:t>Main</a:t>
            </a:r>
            <a:r>
              <a:rPr lang="en-PT" sz="900" dirty="0"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900" dirty="0">
                <a:latin typeface="Krub Light" pitchFamily="2" charset="-34"/>
                <a:cs typeface="Krub Light" pitchFamily="2" charset="-34"/>
              </a:rPr>
              <a:t>Creation of [Name]Factory Class</a:t>
            </a:r>
          </a:p>
          <a:p>
            <a:pPr algn="just"/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800" b="1" dirty="0"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PT" sz="800" dirty="0"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Refactor SD &amp; CD diagrams to include Factory in the design</a:t>
            </a:r>
            <a:endParaRPr lang="en-PT" sz="8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800" b="1" dirty="0"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PT" sz="800" dirty="0"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Implement Factory Class methods &amp; tests</a:t>
            </a:r>
            <a:endParaRPr lang="en-PT" sz="800" dirty="0"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Font typeface="Wingdings" pitchFamily="2" charset="2"/>
              <a:buChar char="v"/>
            </a:pP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Font typeface="Wingdings" pitchFamily="2" charset="2"/>
              <a:buChar char="v"/>
            </a:pPr>
            <a:r>
              <a:rPr lang="en-PT" sz="900" b="1" dirty="0">
                <a:latin typeface="Krub Light" pitchFamily="2" charset="-34"/>
                <a:cs typeface="Krub Light" pitchFamily="2" charset="-34"/>
              </a:rPr>
              <a:t>Acceptance Criteria:</a:t>
            </a:r>
          </a:p>
          <a:p>
            <a:pPr marL="227013" indent="-227013" algn="just">
              <a:buFont typeface="Wingdings" pitchFamily="2" charset="2"/>
              <a:buChar char="v"/>
            </a:pP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800" dirty="0">
                <a:latin typeface="Krub Light" pitchFamily="2" charset="-34"/>
                <a:cs typeface="Krub Light" pitchFamily="2" charset="-34"/>
              </a:rPr>
              <a:t>Diagrams are reviewed and approved by the team</a:t>
            </a: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800" dirty="0">
                <a:latin typeface="Krub Light" pitchFamily="2" charset="-34"/>
                <a:cs typeface="Krub Light" pitchFamily="2" charset="-34"/>
              </a:rPr>
              <a:t>Factory methods were implemented following OOD best practices</a:t>
            </a:r>
            <a:endParaRPr lang="en-PT" sz="800" dirty="0">
              <a:latin typeface="Krub Light" pitchFamily="2" charset="-34"/>
              <a:cs typeface="Krub Light" pitchFamily="2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96B28C-1166-8202-0528-C0F05E2DA386}"/>
              </a:ext>
            </a:extLst>
          </p:cNvPr>
          <p:cNvSpPr txBox="1"/>
          <p:nvPr/>
        </p:nvSpPr>
        <p:spPr>
          <a:xfrm>
            <a:off x="3834423" y="1994560"/>
            <a:ext cx="1475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FACTORIES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827084-BA5A-4C63-0147-0D8861A08CFE}"/>
              </a:ext>
            </a:extLst>
          </p:cNvPr>
          <p:cNvSpPr txBox="1"/>
          <p:nvPr/>
        </p:nvSpPr>
        <p:spPr>
          <a:xfrm>
            <a:off x="347072" y="2350292"/>
            <a:ext cx="2609709" cy="2082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r>
              <a:rPr lang="en-PT" sz="9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Main:  </a:t>
            </a:r>
            <a:r>
              <a:rPr lang="en-GB" sz="9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Refinement - [Domain Class] - [Brief Description of Change]</a:t>
            </a: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Font typeface="Wingdings" pitchFamily="2" charset="2"/>
              <a:buChar char="v"/>
            </a:pP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PT" sz="8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PT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US# - Analysis &amp; Design</a:t>
            </a:r>
            <a:endParaRPr lang="en-PT" sz="8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PT" sz="8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PT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US# - </a:t>
            </a: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 Implementation and Unit Tests </a:t>
            </a: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r>
              <a:rPr lang="en-PT" sz="9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Acceptance Criteria:</a:t>
            </a:r>
          </a:p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lvl="4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Architecture &amp; Responsibilities</a:t>
            </a:r>
          </a:p>
          <a:p>
            <a:pPr marL="493713" lvl="4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Documentation &amp; Diagrams</a:t>
            </a:r>
          </a:p>
          <a:p>
            <a:pPr marL="493713" lvl="4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Quality &amp; Validation</a:t>
            </a:r>
            <a:endParaRPr lang="en-PT" sz="8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3EE1E1-54F6-CD50-3DC6-4382D2A0BE91}"/>
              </a:ext>
            </a:extLst>
          </p:cNvPr>
          <p:cNvSpPr txBox="1"/>
          <p:nvPr/>
        </p:nvSpPr>
        <p:spPr>
          <a:xfrm>
            <a:off x="894327" y="2001409"/>
            <a:ext cx="1475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b="1" dirty="0">
                <a:solidFill>
                  <a:schemeClr val="tx1">
                    <a:lumMod val="9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REFINEMENT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15D903-0F43-3802-CC01-185687E59BB3}"/>
              </a:ext>
            </a:extLst>
          </p:cNvPr>
          <p:cNvSpPr txBox="1"/>
          <p:nvPr/>
        </p:nvSpPr>
        <p:spPr>
          <a:xfrm>
            <a:off x="6187219" y="2334242"/>
            <a:ext cx="2609709" cy="245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r>
              <a:rPr lang="en-PT" sz="9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Main</a:t>
            </a:r>
            <a:r>
              <a:rPr lang="en-PT" sz="9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9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Mock implementation related to US#</a:t>
            </a: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GB" sz="8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Implement mocking to domain class tests</a:t>
            </a: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PT" sz="8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PT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Implement mocking to repository class tests</a:t>
            </a: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GB" sz="8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Implement mocking to controller class tests.</a:t>
            </a: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r>
              <a:rPr lang="en-PT" sz="9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Acceptance Criteria:</a:t>
            </a:r>
          </a:p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endParaRPr lang="en-PT" sz="900" b="1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lvl="4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Mocks simulate realistic success, validation errors, and system failures.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30114A-C3A0-CF9F-6016-924749D03DB8}"/>
              </a:ext>
            </a:extLst>
          </p:cNvPr>
          <p:cNvSpPr txBox="1"/>
          <p:nvPr/>
        </p:nvSpPr>
        <p:spPr>
          <a:xfrm>
            <a:off x="6754497" y="2026465"/>
            <a:ext cx="1475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>
                  <a:lumMod val="85000"/>
                </a:schemeClr>
              </a:buClr>
            </a:pPr>
            <a:r>
              <a:rPr lang="en-PT" b="1" dirty="0">
                <a:solidFill>
                  <a:schemeClr val="tx1">
                    <a:lumMod val="9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MOCK TESTS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00FA92-26A9-297A-1EDE-3EB3B51D038C}"/>
              </a:ext>
            </a:extLst>
          </p:cNvPr>
          <p:cNvSpPr txBox="1"/>
          <p:nvPr/>
        </p:nvSpPr>
        <p:spPr>
          <a:xfrm>
            <a:off x="2943176" y="1164227"/>
            <a:ext cx="3257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24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Issues management</a:t>
            </a:r>
          </a:p>
        </p:txBody>
      </p:sp>
    </p:spTree>
    <p:extLst>
      <p:ext uri="{BB962C8B-B14F-4D97-AF65-F5344CB8AC3E}">
        <p14:creationId xmlns:p14="http://schemas.microsoft.com/office/powerpoint/2010/main" val="27578624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4EF1C-B633-1D8B-998B-B6D7D858D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D99A0F-F0C9-E1F5-D255-1E1EAECB741A}"/>
              </a:ext>
            </a:extLst>
          </p:cNvPr>
          <p:cNvSpPr/>
          <p:nvPr/>
        </p:nvSpPr>
        <p:spPr>
          <a:xfrm>
            <a:off x="758952" y="0"/>
            <a:ext cx="8357616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66EAD8C-9562-E67C-871B-A71C1A6A9329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7F00AF-0784-839C-B531-554537289836}"/>
              </a:ext>
            </a:extLst>
          </p:cNvPr>
          <p:cNvSpPr txBox="1"/>
          <p:nvPr/>
        </p:nvSpPr>
        <p:spPr>
          <a:xfrm>
            <a:off x="1521948" y="218682"/>
            <a:ext cx="7341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PROCESS STANDARDIZATION</a:t>
            </a:r>
            <a:endParaRPr lang="en-PT" sz="4000" b="1" dirty="0">
              <a:solidFill>
                <a:schemeClr val="tx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Krub SemiBold" pitchFamily="2" charset="-34"/>
              <a:cs typeface="Krub SemiBold" pitchFamily="2" charset="-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656E6C-CA90-C2E1-9F88-353ABBBDAD5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774" y="126811"/>
            <a:ext cx="971082" cy="971082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4EACCC6-B212-D958-6F88-EB2D92F96A8F}"/>
              </a:ext>
            </a:extLst>
          </p:cNvPr>
          <p:cNvSpPr/>
          <p:nvPr/>
        </p:nvSpPr>
        <p:spPr>
          <a:xfrm>
            <a:off x="6187219" y="1968959"/>
            <a:ext cx="2609709" cy="2936680"/>
          </a:xfrm>
          <a:prstGeom prst="roundRect">
            <a:avLst>
              <a:gd name="adj" fmla="val 5490"/>
            </a:avLst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C8AB8D-ABFF-549C-56D9-3C31E5BDB983}"/>
              </a:ext>
            </a:extLst>
          </p:cNvPr>
          <p:cNvSpPr txBox="1"/>
          <p:nvPr/>
        </p:nvSpPr>
        <p:spPr>
          <a:xfrm>
            <a:off x="6187219" y="2334242"/>
            <a:ext cx="2609709" cy="245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Font typeface="Wingdings" pitchFamily="2" charset="2"/>
              <a:buChar char="v"/>
            </a:pPr>
            <a:r>
              <a:rPr lang="en-PT" sz="900" b="1" dirty="0">
                <a:latin typeface="Krub Light" pitchFamily="2" charset="-34"/>
                <a:cs typeface="Krub Light" pitchFamily="2" charset="-34"/>
              </a:rPr>
              <a:t>Main</a:t>
            </a:r>
            <a:r>
              <a:rPr lang="en-PT" sz="900" dirty="0"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900" dirty="0">
                <a:latin typeface="Krub Light" pitchFamily="2" charset="-34"/>
                <a:cs typeface="Krub Light" pitchFamily="2" charset="-34"/>
              </a:rPr>
              <a:t>Mock implementation related to US#</a:t>
            </a: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Font typeface="Wingdings" pitchFamily="2" charset="2"/>
              <a:buChar char="v"/>
            </a:pP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800" b="1" dirty="0"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: Implement mocking to domain class tests</a:t>
            </a: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800" b="1" dirty="0"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PT" sz="800" dirty="0"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Implement mocking to repository class tests</a:t>
            </a: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800" b="1" dirty="0"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: Implement mocking to controller class tests.</a:t>
            </a: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Font typeface="Wingdings" pitchFamily="2" charset="2"/>
              <a:buChar char="v"/>
            </a:pPr>
            <a:r>
              <a:rPr lang="en-PT" sz="900" b="1" dirty="0">
                <a:latin typeface="Krub Light" pitchFamily="2" charset="-34"/>
                <a:cs typeface="Krub Light" pitchFamily="2" charset="-34"/>
              </a:rPr>
              <a:t>Acceptance Criteria:</a:t>
            </a:r>
          </a:p>
          <a:p>
            <a:pPr marL="227013" indent="-227013" algn="just">
              <a:buFont typeface="Wingdings" pitchFamily="2" charset="2"/>
              <a:buChar char="v"/>
            </a:pPr>
            <a:endParaRPr lang="en-PT" sz="900" b="1" dirty="0">
              <a:latin typeface="Krub Light" pitchFamily="2" charset="-34"/>
              <a:cs typeface="Krub Light" pitchFamily="2" charset="-34"/>
            </a:endParaRP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800" dirty="0">
                <a:latin typeface="Krub Light" pitchFamily="2" charset="-34"/>
                <a:cs typeface="Krub Light" pitchFamily="2" charset="-34"/>
              </a:rPr>
              <a:t>Mocks simulate realistic success, validation errors, and system failures.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BF1791-4B35-D00A-F560-A5ABEA0B6325}"/>
              </a:ext>
            </a:extLst>
          </p:cNvPr>
          <p:cNvSpPr txBox="1"/>
          <p:nvPr/>
        </p:nvSpPr>
        <p:spPr>
          <a:xfrm>
            <a:off x="6754497" y="2026465"/>
            <a:ext cx="1475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MOCK TESTS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E258E1-2233-5642-B9E9-0877E2E38F5C}"/>
              </a:ext>
            </a:extLst>
          </p:cNvPr>
          <p:cNvSpPr txBox="1"/>
          <p:nvPr/>
        </p:nvSpPr>
        <p:spPr>
          <a:xfrm>
            <a:off x="347072" y="2350292"/>
            <a:ext cx="2609709" cy="2082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r>
              <a:rPr lang="en-PT" sz="9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Main:  </a:t>
            </a:r>
            <a:r>
              <a:rPr lang="en-GB" sz="9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Refinement - [Domain Class] - [Brief Description of Change]</a:t>
            </a: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Font typeface="Wingdings" pitchFamily="2" charset="2"/>
              <a:buChar char="v"/>
            </a:pP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PT" sz="8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PT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US# - Analysis &amp; Design</a:t>
            </a:r>
            <a:endParaRPr lang="en-PT" sz="8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PT" sz="8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PT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US# - </a:t>
            </a: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 Implementation and Unit Tests </a:t>
            </a: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r>
              <a:rPr lang="en-PT" sz="9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Acceptance Criteria:</a:t>
            </a:r>
          </a:p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lvl="4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Architecture &amp; Responsibilities</a:t>
            </a:r>
          </a:p>
          <a:p>
            <a:pPr marL="493713" lvl="4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Documentation &amp; Diagrams</a:t>
            </a:r>
          </a:p>
          <a:p>
            <a:pPr marL="493713" lvl="4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Quality &amp; Validation</a:t>
            </a:r>
            <a:endParaRPr lang="en-PT" sz="8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656C3C-429F-B494-42B4-FE937BC4435B}"/>
              </a:ext>
            </a:extLst>
          </p:cNvPr>
          <p:cNvSpPr txBox="1"/>
          <p:nvPr/>
        </p:nvSpPr>
        <p:spPr>
          <a:xfrm>
            <a:off x="894327" y="2001409"/>
            <a:ext cx="1475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b="1" dirty="0">
                <a:solidFill>
                  <a:schemeClr val="tx1">
                    <a:lumMod val="9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REFINEMENT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E0B7F7-B54A-7CB0-6CEC-5062CB12ACFB}"/>
              </a:ext>
            </a:extLst>
          </p:cNvPr>
          <p:cNvSpPr txBox="1"/>
          <p:nvPr/>
        </p:nvSpPr>
        <p:spPr>
          <a:xfrm>
            <a:off x="3267145" y="2302337"/>
            <a:ext cx="2609709" cy="2243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r>
              <a:rPr lang="en-PT" sz="9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Main</a:t>
            </a:r>
            <a:r>
              <a:rPr lang="en-PT" sz="9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9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Creation of [Name]Factory Class</a:t>
            </a:r>
          </a:p>
          <a:p>
            <a:pPr algn="just">
              <a:buClr>
                <a:schemeClr val="tx1">
                  <a:lumMod val="85000"/>
                </a:schemeClr>
              </a:buClr>
            </a:pP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PT" sz="8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PT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Refactor SD &amp; CD diagrams to include Factory in the design</a:t>
            </a:r>
            <a:endParaRPr lang="en-PT" sz="8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PT" sz="8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Sub-issue</a:t>
            </a:r>
            <a:r>
              <a:rPr lang="en-PT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: </a:t>
            </a: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Implement Factory Class methods &amp; tests</a:t>
            </a:r>
            <a:endParaRPr lang="en-PT" sz="8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r>
              <a:rPr lang="en-PT" sz="90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Acceptance Criteria:</a:t>
            </a:r>
          </a:p>
          <a:p>
            <a:pPr marL="227013" indent="-227013" algn="just">
              <a:buClr>
                <a:schemeClr val="tx1">
                  <a:lumMod val="85000"/>
                </a:schemeClr>
              </a:buClr>
              <a:buFont typeface="Wingdings" pitchFamily="2" charset="2"/>
              <a:buChar char="v"/>
            </a:pPr>
            <a:endParaRPr lang="en-PT" sz="9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lvl="4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Diagrams are reviewed and approved by the team</a:t>
            </a:r>
          </a:p>
          <a:p>
            <a:pPr marL="493713" lvl="4" indent="-220663"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Font typeface="Wingdings" pitchFamily="2" charset="2"/>
              <a:buChar char="ü"/>
            </a:pPr>
            <a:r>
              <a:rPr lang="en-GB" sz="80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Factory methods were implemented following OOD best practices</a:t>
            </a:r>
            <a:endParaRPr lang="en-PT" sz="80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989323-FDDC-EBB1-A0BD-B89DCB1BF10E}"/>
              </a:ext>
            </a:extLst>
          </p:cNvPr>
          <p:cNvSpPr txBox="1"/>
          <p:nvPr/>
        </p:nvSpPr>
        <p:spPr>
          <a:xfrm>
            <a:off x="3834423" y="1994560"/>
            <a:ext cx="1475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b="1" dirty="0">
                <a:solidFill>
                  <a:schemeClr val="tx1">
                    <a:lumMod val="9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FACTORIES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82D3B5-EDC2-47C3-2842-33B5DD3D009F}"/>
              </a:ext>
            </a:extLst>
          </p:cNvPr>
          <p:cNvSpPr txBox="1"/>
          <p:nvPr/>
        </p:nvSpPr>
        <p:spPr>
          <a:xfrm>
            <a:off x="2943176" y="1164227"/>
            <a:ext cx="3257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24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Issues management</a:t>
            </a:r>
          </a:p>
        </p:txBody>
      </p:sp>
    </p:spTree>
    <p:extLst>
      <p:ext uri="{BB962C8B-B14F-4D97-AF65-F5344CB8AC3E}">
        <p14:creationId xmlns:p14="http://schemas.microsoft.com/office/powerpoint/2010/main" val="31956787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2101A-3570-2C22-3207-5D1F2E6DE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47D60DE-9EDF-0DCE-F6CE-2D49BE8350C9}"/>
              </a:ext>
            </a:extLst>
          </p:cNvPr>
          <p:cNvSpPr/>
          <p:nvPr/>
        </p:nvSpPr>
        <p:spPr>
          <a:xfrm>
            <a:off x="758952" y="0"/>
            <a:ext cx="8357616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B49F8D8-8351-2ED2-C503-AA06A422C9F7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DCCCC4-49E2-E8D3-CE28-0C5AD4964A8B}"/>
              </a:ext>
            </a:extLst>
          </p:cNvPr>
          <p:cNvSpPr txBox="1"/>
          <p:nvPr/>
        </p:nvSpPr>
        <p:spPr>
          <a:xfrm>
            <a:off x="1521948" y="218682"/>
            <a:ext cx="7341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PROCESS STANDARDIZATION</a:t>
            </a:r>
            <a:endParaRPr lang="en-PT" sz="4000" b="1" dirty="0">
              <a:solidFill>
                <a:schemeClr val="tx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Krub SemiBold" pitchFamily="2" charset="-34"/>
              <a:cs typeface="Krub SemiBold" pitchFamily="2" charset="-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1F743E-94EE-FED6-9C35-D577382704D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774" y="126811"/>
            <a:ext cx="971082" cy="9710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585A65-750E-CB59-872F-21A355697A8E}"/>
              </a:ext>
            </a:extLst>
          </p:cNvPr>
          <p:cNvSpPr txBox="1"/>
          <p:nvPr/>
        </p:nvSpPr>
        <p:spPr>
          <a:xfrm>
            <a:off x="2943176" y="1164227"/>
            <a:ext cx="3257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24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Naming Classes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E2920E7-79C2-944D-1157-0C55CDE7DE16}"/>
              </a:ext>
            </a:extLst>
          </p:cNvPr>
          <p:cNvCxnSpPr>
            <a:cxnSpLocks/>
          </p:cNvCxnSpPr>
          <p:nvPr/>
        </p:nvCxnSpPr>
        <p:spPr>
          <a:xfrm>
            <a:off x="4572000" y="1977483"/>
            <a:ext cx="0" cy="2831049"/>
          </a:xfrm>
          <a:prstGeom prst="line">
            <a:avLst/>
          </a:prstGeom>
          <a:ln w="285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86FFBB7-A622-01D0-F3AF-F1D60FB6BA17}"/>
              </a:ext>
            </a:extLst>
          </p:cNvPr>
          <p:cNvSpPr/>
          <p:nvPr/>
        </p:nvSpPr>
        <p:spPr>
          <a:xfrm>
            <a:off x="1121172" y="1788388"/>
            <a:ext cx="2281551" cy="499040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b="1" dirty="0">
                <a:latin typeface="Krub" pitchFamily="2" charset="-34"/>
                <a:cs typeface="Krub" pitchFamily="2" charset="-34"/>
              </a:rPr>
              <a:t>Factories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CC255ED-C412-7A99-9119-E364D2C13324}"/>
              </a:ext>
            </a:extLst>
          </p:cNvPr>
          <p:cNvSpPr/>
          <p:nvPr/>
        </p:nvSpPr>
        <p:spPr>
          <a:xfrm>
            <a:off x="5741278" y="1788388"/>
            <a:ext cx="2281551" cy="499040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b="1" dirty="0">
                <a:latin typeface="Krub" pitchFamily="2" charset="-34"/>
                <a:cs typeface="Krub" pitchFamily="2" charset="-34"/>
              </a:rPr>
              <a:t>Mock Tests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1EF7A-9A5D-8AA9-5A88-99F85C5D3FEE}"/>
              </a:ext>
            </a:extLst>
          </p:cNvPr>
          <p:cNvSpPr txBox="1"/>
          <p:nvPr/>
        </p:nvSpPr>
        <p:spPr>
          <a:xfrm>
            <a:off x="347072" y="2513503"/>
            <a:ext cx="3957295" cy="1943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Font typeface="Wingdings" pitchFamily="2" charset="2"/>
              <a:buChar char="v"/>
            </a:pPr>
            <a:r>
              <a:rPr lang="pt-PT" sz="900" b="1" dirty="0" err="1">
                <a:latin typeface="Krub Light" pitchFamily="2" charset="-34"/>
                <a:cs typeface="Krub Light" pitchFamily="2" charset="-34"/>
              </a:rPr>
              <a:t>Name</a:t>
            </a:r>
            <a:r>
              <a:rPr lang="pt-PT" sz="900" b="1" dirty="0">
                <a:latin typeface="Krub Light" pitchFamily="2" charset="-34"/>
                <a:cs typeface="Krub Light" pitchFamily="2" charset="-34"/>
              </a:rPr>
              <a:t> Standard:</a:t>
            </a: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Font typeface="Wingdings" pitchFamily="2" charset="2"/>
              <a:buChar char="v"/>
            </a:pP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800" dirty="0">
                <a:latin typeface="Krub Light" pitchFamily="2" charset="-34"/>
                <a:cs typeface="Krub Light" pitchFamily="2" charset="-34"/>
              </a:rPr>
              <a:t>EXEMPLO com </a:t>
            </a:r>
            <a:r>
              <a:rPr lang="en-GB" sz="800" dirty="0" err="1">
                <a:latin typeface="Krub Light" pitchFamily="2" charset="-34"/>
                <a:cs typeface="Krub Light" pitchFamily="2" charset="-34"/>
              </a:rPr>
              <a:t>imagem</a:t>
            </a:r>
            <a:endParaRPr lang="en-GB" sz="8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endParaRPr lang="en-GB" sz="8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endParaRPr lang="en-GB" sz="8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endParaRPr lang="en-GB" sz="8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endParaRPr lang="en-GB" sz="8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Font typeface="Wingdings" pitchFamily="2" charset="2"/>
              <a:buChar char="v"/>
            </a:pPr>
            <a:r>
              <a:rPr lang="en-PT" sz="900" b="1" dirty="0">
                <a:latin typeface="Krub Light" pitchFamily="2" charset="-34"/>
                <a:cs typeface="Krub Light" pitchFamily="2" charset="-34"/>
              </a:rPr>
              <a:t>Acceptance Criteria:</a:t>
            </a:r>
          </a:p>
          <a:p>
            <a:pPr marL="227013" indent="-227013" algn="just">
              <a:buFont typeface="Wingdings" pitchFamily="2" charset="2"/>
              <a:buChar char="v"/>
            </a:pP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800" dirty="0">
                <a:latin typeface="Krub Light" pitchFamily="2" charset="-34"/>
                <a:cs typeface="Krub Light" pitchFamily="2" charset="-34"/>
              </a:rPr>
              <a:t>Protected no constructor da </a:t>
            </a:r>
            <a:r>
              <a:rPr lang="en-GB" sz="800" dirty="0" err="1">
                <a:latin typeface="Krub Light" pitchFamily="2" charset="-34"/>
                <a:cs typeface="Krub Light" pitchFamily="2" charset="-34"/>
              </a:rPr>
              <a:t>classe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 de </a:t>
            </a:r>
            <a:r>
              <a:rPr lang="en-GB" sz="800" dirty="0" err="1">
                <a:latin typeface="Krub Light" pitchFamily="2" charset="-34"/>
                <a:cs typeface="Krub Light" pitchFamily="2" charset="-34"/>
              </a:rPr>
              <a:t>dominio</a:t>
            </a:r>
            <a:endParaRPr lang="en-PT" sz="800" dirty="0">
              <a:latin typeface="Krub Light" pitchFamily="2" charset="-34"/>
              <a:cs typeface="Krub Light" pitchFamily="2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895A42-DA1E-6BF5-A032-7E4D586F248F}"/>
              </a:ext>
            </a:extLst>
          </p:cNvPr>
          <p:cNvSpPr txBox="1"/>
          <p:nvPr/>
        </p:nvSpPr>
        <p:spPr>
          <a:xfrm>
            <a:off x="4781540" y="2513503"/>
            <a:ext cx="3957295" cy="2128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Font typeface="Wingdings" pitchFamily="2" charset="2"/>
              <a:buChar char="v"/>
            </a:pPr>
            <a:r>
              <a:rPr lang="pt-PT" sz="900" b="1" dirty="0" err="1">
                <a:latin typeface="Krub Light" pitchFamily="2" charset="-34"/>
                <a:cs typeface="Krub Light" pitchFamily="2" charset="-34"/>
              </a:rPr>
              <a:t>Name</a:t>
            </a:r>
            <a:r>
              <a:rPr lang="pt-PT" sz="900" b="1" dirty="0">
                <a:latin typeface="Krub Light" pitchFamily="2" charset="-34"/>
                <a:cs typeface="Krub Light" pitchFamily="2" charset="-34"/>
              </a:rPr>
              <a:t> Standard:</a:t>
            </a: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Font typeface="Wingdings" pitchFamily="2" charset="2"/>
              <a:buChar char="v"/>
            </a:pP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800" dirty="0">
                <a:latin typeface="Krub Light" pitchFamily="2" charset="-34"/>
                <a:cs typeface="Krub Light" pitchFamily="2" charset="-34"/>
              </a:rPr>
              <a:t>EXEMPLO com </a:t>
            </a:r>
            <a:r>
              <a:rPr lang="en-GB" sz="800" dirty="0" err="1">
                <a:latin typeface="Krub Light" pitchFamily="2" charset="-34"/>
                <a:cs typeface="Krub Light" pitchFamily="2" charset="-34"/>
              </a:rPr>
              <a:t>imagem</a:t>
            </a:r>
            <a:endParaRPr lang="en-GB" sz="8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endParaRPr lang="en-GB" sz="8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endParaRPr lang="en-GB" sz="8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endParaRPr lang="en-GB" sz="8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endParaRPr lang="en-GB" sz="80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Font typeface="Wingdings" pitchFamily="2" charset="2"/>
              <a:buChar char="v"/>
            </a:pPr>
            <a:r>
              <a:rPr lang="en-PT" sz="900" b="1" dirty="0">
                <a:latin typeface="Krub Light" pitchFamily="2" charset="-34"/>
                <a:cs typeface="Krub Light" pitchFamily="2" charset="-34"/>
              </a:rPr>
              <a:t>Acceptance Criteria:</a:t>
            </a:r>
          </a:p>
          <a:p>
            <a:pPr marL="227013" indent="-227013" algn="just">
              <a:buFont typeface="Wingdings" pitchFamily="2" charset="2"/>
              <a:buChar char="v"/>
            </a:pPr>
            <a:endParaRPr lang="en-PT" sz="900" dirty="0">
              <a:latin typeface="Krub Light" pitchFamily="2" charset="-34"/>
              <a:cs typeface="Krub Light" pitchFamily="2" charset="-34"/>
            </a:endParaRP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800" dirty="0">
                <a:latin typeface="Krub Light" pitchFamily="2" charset="-34"/>
                <a:cs typeface="Krub Light" pitchFamily="2" charset="-34"/>
              </a:rPr>
              <a:t>Todos </a:t>
            </a:r>
            <a:r>
              <a:rPr lang="en-GB" sz="800" dirty="0" err="1">
                <a:latin typeface="Krub Light" pitchFamily="2" charset="-34"/>
                <a:cs typeface="Krub Light" pitchFamily="2" charset="-34"/>
              </a:rPr>
              <a:t>os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 </a:t>
            </a:r>
            <a:r>
              <a:rPr lang="en-GB" sz="800" dirty="0" err="1">
                <a:latin typeface="Krub Light" pitchFamily="2" charset="-34"/>
                <a:cs typeface="Krub Light" pitchFamily="2" charset="-34"/>
              </a:rPr>
              <a:t>métodos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 </a:t>
            </a:r>
            <a:r>
              <a:rPr lang="en-GB" sz="800" dirty="0" err="1">
                <a:latin typeface="Krub Light" pitchFamily="2" charset="-34"/>
                <a:cs typeface="Krub Light" pitchFamily="2" charset="-34"/>
              </a:rPr>
              <a:t>deverão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 ser </a:t>
            </a:r>
            <a:r>
              <a:rPr lang="en-GB" sz="800" dirty="0" err="1">
                <a:latin typeface="Krub Light" pitchFamily="2" charset="-34"/>
                <a:cs typeface="Krub Light" pitchFamily="2" charset="-34"/>
              </a:rPr>
              <a:t>implementados</a:t>
            </a:r>
            <a:r>
              <a:rPr lang="en-GB" sz="800" dirty="0">
                <a:latin typeface="Krub Light" pitchFamily="2" charset="-34"/>
                <a:cs typeface="Krub Light" pitchFamily="2" charset="-34"/>
              </a:rPr>
              <a:t> mocks</a:t>
            </a: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endParaRPr lang="en-PT" sz="800" dirty="0">
              <a:latin typeface="Krub Light" pitchFamily="2" charset="-34"/>
              <a:cs typeface="Krub Ligh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45213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C089D-7C79-2BE4-7E7A-C6AA2CA15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EE19456-FFDF-C08F-96E9-DA609979B6F3}"/>
              </a:ext>
            </a:extLst>
          </p:cNvPr>
          <p:cNvSpPr/>
          <p:nvPr/>
        </p:nvSpPr>
        <p:spPr>
          <a:xfrm>
            <a:off x="758952" y="0"/>
            <a:ext cx="8357616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CA7538C-7BBC-2852-59DD-7F034BBFBC50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DBDEA-47AD-CEDA-9C10-C880B47A7249}"/>
              </a:ext>
            </a:extLst>
          </p:cNvPr>
          <p:cNvSpPr txBox="1"/>
          <p:nvPr/>
        </p:nvSpPr>
        <p:spPr>
          <a:xfrm>
            <a:off x="1521948" y="218682"/>
            <a:ext cx="7341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PROCESS STANDARDIZATION</a:t>
            </a:r>
            <a:endParaRPr lang="en-PT" sz="4000" b="1" dirty="0">
              <a:solidFill>
                <a:schemeClr val="tx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Krub SemiBold" pitchFamily="2" charset="-34"/>
              <a:cs typeface="Krub SemiBold" pitchFamily="2" charset="-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5F35C7-A65B-4FF7-BE32-4601FDC35C7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774" y="126811"/>
            <a:ext cx="971082" cy="9710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7EFA9F3-EBF2-3741-5D1F-AAD6F6852E4D}"/>
              </a:ext>
            </a:extLst>
          </p:cNvPr>
          <p:cNvSpPr txBox="1"/>
          <p:nvPr/>
        </p:nvSpPr>
        <p:spPr>
          <a:xfrm>
            <a:off x="2943176" y="1164227"/>
            <a:ext cx="3257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24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6222048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406B3-1F03-9946-AA79-353799F47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DB67D3-F341-8C09-97E4-C3F3EF30DA18}"/>
              </a:ext>
            </a:extLst>
          </p:cNvPr>
          <p:cNvSpPr/>
          <p:nvPr/>
        </p:nvSpPr>
        <p:spPr>
          <a:xfrm>
            <a:off x="758952" y="0"/>
            <a:ext cx="8357616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81C0C25-4C7D-318F-04CB-ED20525052F4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13E498-8A3F-61CA-6083-EFE30428CD82}"/>
              </a:ext>
            </a:extLst>
          </p:cNvPr>
          <p:cNvSpPr txBox="1"/>
          <p:nvPr/>
        </p:nvSpPr>
        <p:spPr>
          <a:xfrm>
            <a:off x="1521948" y="218682"/>
            <a:ext cx="7341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PROCESS STANDARDIZATION</a:t>
            </a:r>
            <a:endParaRPr lang="en-PT" sz="4000" b="1" dirty="0">
              <a:solidFill>
                <a:schemeClr val="tx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Krub SemiBold" pitchFamily="2" charset="-34"/>
              <a:cs typeface="Krub SemiBold" pitchFamily="2" charset="-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147D3B-F2AA-568E-F69F-290FF6BD7FC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774" y="126811"/>
            <a:ext cx="971082" cy="9710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838782F-1656-F52C-919F-651DF670A493}"/>
              </a:ext>
            </a:extLst>
          </p:cNvPr>
          <p:cNvSpPr txBox="1"/>
          <p:nvPr/>
        </p:nvSpPr>
        <p:spPr>
          <a:xfrm>
            <a:off x="2943176" y="1164227"/>
            <a:ext cx="3257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24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Commits</a:t>
            </a:r>
          </a:p>
        </p:txBody>
      </p:sp>
    </p:spTree>
    <p:extLst>
      <p:ext uri="{BB962C8B-B14F-4D97-AF65-F5344CB8AC3E}">
        <p14:creationId xmlns:p14="http://schemas.microsoft.com/office/powerpoint/2010/main" val="35571010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E85CB-49CE-5FA5-D894-FD0CD7C53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567CB8-065C-C0AE-C885-155461FB5111}"/>
              </a:ext>
            </a:extLst>
          </p:cNvPr>
          <p:cNvSpPr/>
          <p:nvPr/>
        </p:nvSpPr>
        <p:spPr>
          <a:xfrm>
            <a:off x="758952" y="0"/>
            <a:ext cx="8357616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8A401F4-EFAE-EEFD-2A4B-A7211BAD1B18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5A236C-B83C-75D4-AC4F-6E382E4659AC}"/>
              </a:ext>
            </a:extLst>
          </p:cNvPr>
          <p:cNvSpPr txBox="1"/>
          <p:nvPr/>
        </p:nvSpPr>
        <p:spPr>
          <a:xfrm>
            <a:off x="1521948" y="212008"/>
            <a:ext cx="47712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QUALITY CONTROL</a:t>
            </a: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C12A839-F501-FC28-6B1D-F21C88016F06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4427" y="-2185"/>
            <a:ext cx="1203512" cy="1203512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C24FEAE-3403-449A-51CD-641BDC77F0D5}"/>
              </a:ext>
            </a:extLst>
          </p:cNvPr>
          <p:cNvSpPr/>
          <p:nvPr/>
        </p:nvSpPr>
        <p:spPr>
          <a:xfrm>
            <a:off x="573743" y="1529303"/>
            <a:ext cx="3696059" cy="3402187"/>
          </a:xfrm>
          <a:prstGeom prst="roundRect">
            <a:avLst>
              <a:gd name="adj" fmla="val 5490"/>
            </a:avLst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41F986-BD4A-4244-8AA5-73D917488B3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80029" y="4066049"/>
            <a:ext cx="865441" cy="8654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55393F-DDFC-25D5-871E-5E8AD6881A4F}"/>
              </a:ext>
            </a:extLst>
          </p:cNvPr>
          <p:cNvSpPr txBox="1"/>
          <p:nvPr/>
        </p:nvSpPr>
        <p:spPr>
          <a:xfrm>
            <a:off x="900953" y="1580025"/>
            <a:ext cx="3065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Step one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092C70-547E-6A4E-DB81-BB598F03D348}"/>
              </a:ext>
            </a:extLst>
          </p:cNvPr>
          <p:cNvSpPr txBox="1"/>
          <p:nvPr/>
        </p:nvSpPr>
        <p:spPr>
          <a:xfrm>
            <a:off x="5064476" y="1593470"/>
            <a:ext cx="3065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b="1" dirty="0">
                <a:solidFill>
                  <a:schemeClr val="tx1">
                    <a:lumMod val="9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Step two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84E5B8-0DF0-08B8-8A9F-186E4C6E8CA9}"/>
              </a:ext>
            </a:extLst>
          </p:cNvPr>
          <p:cNvSpPr txBox="1"/>
          <p:nvPr/>
        </p:nvSpPr>
        <p:spPr>
          <a:xfrm>
            <a:off x="698530" y="2009906"/>
            <a:ext cx="3470058" cy="233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Font typeface="Wingdings" pitchFamily="2" charset="2"/>
              <a:buChar char="v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Distribute the </a:t>
            </a:r>
            <a:r>
              <a:rPr lang="en-PT" sz="1050" b="1" dirty="0">
                <a:latin typeface="Krub Light" pitchFamily="2" charset="-34"/>
                <a:cs typeface="Krub Light" pitchFamily="2" charset="-34"/>
              </a:rPr>
              <a:t>US</a:t>
            </a:r>
            <a:r>
              <a:rPr lang="en-PT" sz="1050" dirty="0">
                <a:latin typeface="Krub Light" pitchFamily="2" charset="-34"/>
                <a:cs typeface="Krub Light" pitchFamily="2" charset="-34"/>
              </a:rPr>
              <a:t> in groups of two, regarding:</a:t>
            </a:r>
          </a:p>
          <a:p>
            <a:pPr marL="227013" indent="-227013" algn="just">
              <a:buFont typeface="Wingdings" pitchFamily="2" charset="2"/>
              <a:buChar char="v"/>
            </a:pPr>
            <a:endParaRPr lang="en-PT" sz="105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Sequence Diagram</a:t>
            </a: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Class Diagram</a:t>
            </a: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User Case</a:t>
            </a:r>
          </a:p>
          <a:p>
            <a:pPr marL="227013" indent="-227013" algn="just">
              <a:buFont typeface="Wingdings" pitchFamily="2" charset="2"/>
              <a:buChar char="v"/>
            </a:pPr>
            <a:endParaRPr lang="en-PT" sz="1050" dirty="0"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Font typeface="Wingdings" pitchFamily="2" charset="2"/>
              <a:buChar char="v"/>
            </a:pPr>
            <a:r>
              <a:rPr lang="en-PT" sz="1050" b="1" dirty="0">
                <a:latin typeface="Krub Light" pitchFamily="2" charset="-34"/>
                <a:cs typeface="Krub Light" pitchFamily="2" charset="-34"/>
              </a:rPr>
              <a:t>Goals:</a:t>
            </a:r>
          </a:p>
          <a:p>
            <a:pPr marL="227013" indent="-227013" algn="just">
              <a:buFont typeface="Wingdings" pitchFamily="2" charset="2"/>
              <a:buChar char="v"/>
            </a:pPr>
            <a:endParaRPr lang="en-PT" sz="1050" dirty="0">
              <a:latin typeface="Krub Light" pitchFamily="2" charset="-34"/>
              <a:cs typeface="Krub Light" pitchFamily="2" charset="-34"/>
            </a:endParaRP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Analyze and manage the US</a:t>
            </a: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Confirm t</a:t>
            </a:r>
            <a:r>
              <a:rPr lang="en-GB" sz="1050" dirty="0">
                <a:latin typeface="Krub Light" pitchFamily="2" charset="-34"/>
                <a:cs typeface="Krub Light" pitchFamily="2" charset="-34"/>
              </a:rPr>
              <a:t>he</a:t>
            </a:r>
            <a:r>
              <a:rPr lang="en-PT" sz="1050" dirty="0">
                <a:latin typeface="Krub Light" pitchFamily="2" charset="-34"/>
                <a:cs typeface="Krub Light" pitchFamily="2" charset="-34"/>
              </a:rPr>
              <a:t> classes for future development</a:t>
            </a: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Standardization of the Diagrams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32F3B9-3F85-91BD-107B-DC443A1263FB}"/>
              </a:ext>
            </a:extLst>
          </p:cNvPr>
          <p:cNvSpPr txBox="1"/>
          <p:nvPr/>
        </p:nvSpPr>
        <p:spPr>
          <a:xfrm>
            <a:off x="4839886" y="2009906"/>
            <a:ext cx="3515107" cy="2758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Clr>
                <a:schemeClr val="tx1">
                  <a:lumMod val="95000"/>
                </a:schemeClr>
              </a:buClr>
              <a:buFont typeface="Wingdings" pitchFamily="2" charset="2"/>
              <a:buChar char="v"/>
            </a:pPr>
            <a:r>
              <a:rPr lang="en-PT" sz="105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New distribution of the US for implementation:</a:t>
            </a:r>
          </a:p>
          <a:p>
            <a:pPr marL="227013" indent="-227013" algn="just">
              <a:buClr>
                <a:schemeClr val="tx1">
                  <a:lumMod val="95000"/>
                </a:schemeClr>
              </a:buClr>
              <a:buFont typeface="Wingdings" pitchFamily="2" charset="2"/>
              <a:buChar char="v"/>
            </a:pPr>
            <a:endParaRPr lang="en-PT" sz="105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95000"/>
                </a:schemeClr>
              </a:buClr>
              <a:buFont typeface="Wingdings" pitchFamily="2" charset="2"/>
              <a:buChar char="ü"/>
            </a:pPr>
            <a:r>
              <a:rPr lang="en-PT" sz="105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Each member will implement a US that had already been assigned to them</a:t>
            </a: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95000"/>
                </a:schemeClr>
              </a:buClr>
              <a:buFont typeface="Wingdings" pitchFamily="2" charset="2"/>
              <a:buChar char="ü"/>
            </a:pPr>
            <a:r>
              <a:rPr lang="en-PT" sz="105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Each member will also implement a US from another Actor</a:t>
            </a:r>
          </a:p>
          <a:p>
            <a:pPr algn="just">
              <a:buClr>
                <a:schemeClr val="tx1">
                  <a:lumMod val="95000"/>
                </a:schemeClr>
              </a:buClr>
            </a:pPr>
            <a:endParaRPr lang="en-PT" sz="105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Clr>
                <a:schemeClr val="tx1">
                  <a:lumMod val="95000"/>
                </a:schemeClr>
              </a:buClr>
              <a:buFont typeface="Wingdings" pitchFamily="2" charset="2"/>
              <a:buChar char="v"/>
            </a:pPr>
            <a:r>
              <a:rPr lang="en-PT" sz="105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Goals:</a:t>
            </a:r>
          </a:p>
          <a:p>
            <a:pPr marL="227013" indent="-227013" algn="just">
              <a:buClr>
                <a:schemeClr val="tx1">
                  <a:lumMod val="95000"/>
                </a:schemeClr>
              </a:buClr>
              <a:buFont typeface="Wingdings" pitchFamily="2" charset="2"/>
              <a:buChar char="v"/>
            </a:pPr>
            <a:endParaRPr lang="en-PT" sz="105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95000"/>
                </a:schemeClr>
              </a:buClr>
              <a:buFont typeface="Wingdings" pitchFamily="2" charset="2"/>
              <a:buChar char="ü"/>
            </a:pPr>
            <a:r>
              <a:rPr lang="en-PT" sz="105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Reassure the global understanding of the project by all members</a:t>
            </a: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95000"/>
                </a:schemeClr>
              </a:buClr>
              <a:buFont typeface="Wingdings" pitchFamily="2" charset="2"/>
              <a:buChar char="ü"/>
            </a:pPr>
            <a:r>
              <a:rPr lang="en-PT" sz="105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Implement the US</a:t>
            </a:r>
          </a:p>
          <a:p>
            <a:pPr marL="227013" indent="-227013" algn="just">
              <a:buClr>
                <a:schemeClr val="tx1">
                  <a:lumMod val="95000"/>
                </a:schemeClr>
              </a:buClr>
              <a:buFont typeface="Wingdings" pitchFamily="2" charset="2"/>
              <a:buChar char="v"/>
            </a:pPr>
            <a:endParaRPr lang="en-PT" sz="105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02ECD8-7AD5-F667-F0FF-8477E146E5EE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3313382" y="4163144"/>
            <a:ext cx="775070" cy="77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513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1CBB7-15E8-93C9-8F67-BFEFFCA8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21E3566-5599-BFBD-6DF1-A1875B838A9C}"/>
              </a:ext>
            </a:extLst>
          </p:cNvPr>
          <p:cNvSpPr/>
          <p:nvPr/>
        </p:nvSpPr>
        <p:spPr>
          <a:xfrm>
            <a:off x="758952" y="0"/>
            <a:ext cx="8357616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8C1FA45-6EE1-C0AE-E9BC-BEA98C2A98BF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574E9D-C973-D91A-D026-80C8237639AB}"/>
              </a:ext>
            </a:extLst>
          </p:cNvPr>
          <p:cNvSpPr txBox="1"/>
          <p:nvPr/>
        </p:nvSpPr>
        <p:spPr>
          <a:xfrm>
            <a:off x="1521948" y="212008"/>
            <a:ext cx="47712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QUALITY CONTROL</a:t>
            </a: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FDD543D-39B6-685B-2CB4-E29E7F3980E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4427" y="-2185"/>
            <a:ext cx="1203512" cy="1203512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028CFAF-F1DC-0246-652D-245694D22087}"/>
              </a:ext>
            </a:extLst>
          </p:cNvPr>
          <p:cNvSpPr/>
          <p:nvPr/>
        </p:nvSpPr>
        <p:spPr>
          <a:xfrm>
            <a:off x="573743" y="1529303"/>
            <a:ext cx="3696059" cy="3402187"/>
          </a:xfrm>
          <a:prstGeom prst="roundRect">
            <a:avLst>
              <a:gd name="adj" fmla="val 5490"/>
            </a:avLst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A50B6A-A7BD-F907-7C9C-9D7CE836604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80029" y="4066049"/>
            <a:ext cx="865441" cy="8654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CBF8BF-5612-704A-16FB-7A107958A0B0}"/>
              </a:ext>
            </a:extLst>
          </p:cNvPr>
          <p:cNvSpPr txBox="1"/>
          <p:nvPr/>
        </p:nvSpPr>
        <p:spPr>
          <a:xfrm>
            <a:off x="900953" y="1580025"/>
            <a:ext cx="3065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Step one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60C8CE-C8FB-FF6E-7FC8-DEC9729B3ABF}"/>
              </a:ext>
            </a:extLst>
          </p:cNvPr>
          <p:cNvSpPr txBox="1"/>
          <p:nvPr/>
        </p:nvSpPr>
        <p:spPr>
          <a:xfrm>
            <a:off x="5064476" y="1593470"/>
            <a:ext cx="3065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b="1" dirty="0">
                <a:solidFill>
                  <a:schemeClr val="tx1">
                    <a:lumMod val="9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Step two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CFC94-DA64-552F-3D2A-4C524F612068}"/>
              </a:ext>
            </a:extLst>
          </p:cNvPr>
          <p:cNvSpPr txBox="1"/>
          <p:nvPr/>
        </p:nvSpPr>
        <p:spPr>
          <a:xfrm>
            <a:off x="698530" y="2009906"/>
            <a:ext cx="3470058" cy="233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Font typeface="Wingdings" pitchFamily="2" charset="2"/>
              <a:buChar char="v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Distribute the </a:t>
            </a:r>
            <a:r>
              <a:rPr lang="en-PT" sz="1050" b="1" dirty="0">
                <a:latin typeface="Krub Light" pitchFamily="2" charset="-34"/>
                <a:cs typeface="Krub Light" pitchFamily="2" charset="-34"/>
              </a:rPr>
              <a:t>US</a:t>
            </a:r>
            <a:r>
              <a:rPr lang="en-PT" sz="1050" dirty="0">
                <a:latin typeface="Krub Light" pitchFamily="2" charset="-34"/>
                <a:cs typeface="Krub Light" pitchFamily="2" charset="-34"/>
              </a:rPr>
              <a:t> in groups of two, regarding:</a:t>
            </a:r>
          </a:p>
          <a:p>
            <a:pPr marL="227013" indent="-227013" algn="just">
              <a:buFont typeface="Wingdings" pitchFamily="2" charset="2"/>
              <a:buChar char="v"/>
            </a:pPr>
            <a:endParaRPr lang="en-PT" sz="105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Sequence Diagram</a:t>
            </a: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Class Diagram</a:t>
            </a: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User Case</a:t>
            </a:r>
          </a:p>
          <a:p>
            <a:pPr marL="227013" indent="-227013" algn="just">
              <a:buFont typeface="Wingdings" pitchFamily="2" charset="2"/>
              <a:buChar char="v"/>
            </a:pPr>
            <a:endParaRPr lang="en-PT" sz="1050" dirty="0"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Font typeface="Wingdings" pitchFamily="2" charset="2"/>
              <a:buChar char="v"/>
            </a:pPr>
            <a:r>
              <a:rPr lang="en-PT" sz="1050" b="1" dirty="0">
                <a:latin typeface="Krub Light" pitchFamily="2" charset="-34"/>
                <a:cs typeface="Krub Light" pitchFamily="2" charset="-34"/>
              </a:rPr>
              <a:t>Goals:</a:t>
            </a:r>
          </a:p>
          <a:p>
            <a:pPr marL="227013" indent="-227013" algn="just">
              <a:buFont typeface="Wingdings" pitchFamily="2" charset="2"/>
              <a:buChar char="v"/>
            </a:pPr>
            <a:endParaRPr lang="en-PT" sz="1050" dirty="0">
              <a:latin typeface="Krub Light" pitchFamily="2" charset="-34"/>
              <a:cs typeface="Krub Light" pitchFamily="2" charset="-34"/>
            </a:endParaRP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Analyze and manage the US</a:t>
            </a: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Confirm t</a:t>
            </a:r>
            <a:r>
              <a:rPr lang="en-GB" sz="1050" dirty="0">
                <a:latin typeface="Krub Light" pitchFamily="2" charset="-34"/>
                <a:cs typeface="Krub Light" pitchFamily="2" charset="-34"/>
              </a:rPr>
              <a:t>he</a:t>
            </a:r>
            <a:r>
              <a:rPr lang="en-PT" sz="1050" dirty="0">
                <a:latin typeface="Krub Light" pitchFamily="2" charset="-34"/>
                <a:cs typeface="Krub Light" pitchFamily="2" charset="-34"/>
              </a:rPr>
              <a:t> classes for future development</a:t>
            </a: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Standardization of the Diagrams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D335C2-E0CE-08B8-7CA2-32A5F9944975}"/>
              </a:ext>
            </a:extLst>
          </p:cNvPr>
          <p:cNvSpPr txBox="1"/>
          <p:nvPr/>
        </p:nvSpPr>
        <p:spPr>
          <a:xfrm>
            <a:off x="4839886" y="2009906"/>
            <a:ext cx="3515107" cy="2758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Clr>
                <a:schemeClr val="tx1">
                  <a:lumMod val="95000"/>
                </a:schemeClr>
              </a:buClr>
              <a:buFont typeface="Wingdings" pitchFamily="2" charset="2"/>
              <a:buChar char="v"/>
            </a:pPr>
            <a:r>
              <a:rPr lang="en-PT" sz="105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New distribution of the US for implementation:</a:t>
            </a:r>
          </a:p>
          <a:p>
            <a:pPr marL="227013" indent="-227013" algn="just">
              <a:buClr>
                <a:schemeClr val="tx1">
                  <a:lumMod val="95000"/>
                </a:schemeClr>
              </a:buClr>
              <a:buFont typeface="Wingdings" pitchFamily="2" charset="2"/>
              <a:buChar char="v"/>
            </a:pPr>
            <a:endParaRPr lang="en-PT" sz="105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95000"/>
                </a:schemeClr>
              </a:buClr>
              <a:buFont typeface="Wingdings" pitchFamily="2" charset="2"/>
              <a:buChar char="ü"/>
            </a:pPr>
            <a:r>
              <a:rPr lang="en-PT" sz="105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Each member will implement a US that had already been assigned to them</a:t>
            </a: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95000"/>
                </a:schemeClr>
              </a:buClr>
              <a:buFont typeface="Wingdings" pitchFamily="2" charset="2"/>
              <a:buChar char="ü"/>
            </a:pPr>
            <a:r>
              <a:rPr lang="en-PT" sz="105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Each member will also implement a US from another Actor</a:t>
            </a:r>
          </a:p>
          <a:p>
            <a:pPr algn="just">
              <a:buClr>
                <a:schemeClr val="tx1">
                  <a:lumMod val="95000"/>
                </a:schemeClr>
              </a:buClr>
            </a:pPr>
            <a:endParaRPr lang="en-PT" sz="105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Clr>
                <a:schemeClr val="tx1">
                  <a:lumMod val="95000"/>
                </a:schemeClr>
              </a:buClr>
              <a:buFont typeface="Wingdings" pitchFamily="2" charset="2"/>
              <a:buChar char="v"/>
            </a:pPr>
            <a:r>
              <a:rPr lang="en-PT" sz="1050" b="1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Goals:</a:t>
            </a:r>
          </a:p>
          <a:p>
            <a:pPr marL="227013" indent="-227013" algn="just">
              <a:buClr>
                <a:schemeClr val="tx1">
                  <a:lumMod val="95000"/>
                </a:schemeClr>
              </a:buClr>
              <a:buFont typeface="Wingdings" pitchFamily="2" charset="2"/>
              <a:buChar char="v"/>
            </a:pPr>
            <a:endParaRPr lang="en-PT" sz="105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95000"/>
                </a:schemeClr>
              </a:buClr>
              <a:buFont typeface="Wingdings" pitchFamily="2" charset="2"/>
              <a:buChar char="ü"/>
            </a:pPr>
            <a:r>
              <a:rPr lang="en-PT" sz="105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Reassure the global understanding of the project by all members</a:t>
            </a:r>
          </a:p>
          <a:p>
            <a:pPr marL="493713" indent="-220663" algn="just">
              <a:lnSpc>
                <a:spcPct val="150000"/>
              </a:lnSpc>
              <a:buClr>
                <a:schemeClr val="tx1">
                  <a:lumMod val="95000"/>
                </a:schemeClr>
              </a:buClr>
              <a:buFont typeface="Wingdings" pitchFamily="2" charset="2"/>
              <a:buChar char="ü"/>
            </a:pPr>
            <a:r>
              <a:rPr lang="en-PT" sz="1050" dirty="0">
                <a:solidFill>
                  <a:schemeClr val="tx1">
                    <a:lumMod val="85000"/>
                  </a:schemeClr>
                </a:solidFill>
                <a:latin typeface="Krub Light" pitchFamily="2" charset="-34"/>
                <a:cs typeface="Krub Light" pitchFamily="2" charset="-34"/>
              </a:rPr>
              <a:t>Implement the US</a:t>
            </a:r>
          </a:p>
          <a:p>
            <a:pPr marL="227013" indent="-227013" algn="just">
              <a:buClr>
                <a:schemeClr val="tx1">
                  <a:lumMod val="95000"/>
                </a:schemeClr>
              </a:buClr>
              <a:buFont typeface="Wingdings" pitchFamily="2" charset="2"/>
              <a:buChar char="v"/>
            </a:pPr>
            <a:endParaRPr lang="en-PT" sz="1050" dirty="0">
              <a:solidFill>
                <a:schemeClr val="tx1">
                  <a:lumMod val="85000"/>
                </a:schemeClr>
              </a:solidFill>
              <a:latin typeface="Krub Light" pitchFamily="2" charset="-34"/>
              <a:cs typeface="Krub Light" pitchFamily="2" charset="-34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9EE037-9097-DA50-9301-6519DA58CA94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3313382" y="4163144"/>
            <a:ext cx="775070" cy="77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32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9D04D-041E-E164-3238-D8E3DB234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A9D591-3619-A18F-25EC-7C4EF31FE36A}"/>
              </a:ext>
            </a:extLst>
          </p:cNvPr>
          <p:cNvSpPr/>
          <p:nvPr/>
        </p:nvSpPr>
        <p:spPr>
          <a:xfrm>
            <a:off x="758952" y="0"/>
            <a:ext cx="8357616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958E3F5-2193-F88E-B286-6026B6D9B212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1BC105-4CE6-C2D0-1885-27286AE73DD8}"/>
              </a:ext>
            </a:extLst>
          </p:cNvPr>
          <p:cNvSpPr txBox="1"/>
          <p:nvPr/>
        </p:nvSpPr>
        <p:spPr>
          <a:xfrm>
            <a:off x="1521948" y="212008"/>
            <a:ext cx="47712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QUALITY CONTROL</a:t>
            </a: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3CE6E1A-FBA2-FCD6-25DA-12886B80B731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4427" y="-2185"/>
            <a:ext cx="1203512" cy="1203512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7EAB47E-2F59-9849-12F2-970F128819FB}"/>
              </a:ext>
            </a:extLst>
          </p:cNvPr>
          <p:cNvSpPr/>
          <p:nvPr/>
        </p:nvSpPr>
        <p:spPr>
          <a:xfrm>
            <a:off x="4749412" y="1529303"/>
            <a:ext cx="3696059" cy="3402188"/>
          </a:xfrm>
          <a:prstGeom prst="roundRect">
            <a:avLst>
              <a:gd name="adj" fmla="val 5490"/>
            </a:avLst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80CD59-A8E8-A2C5-900A-7FC2F027586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7580029" y="4066049"/>
            <a:ext cx="865441" cy="8654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6F876BE-55BA-BA56-2974-689CC0A2FE53}"/>
              </a:ext>
            </a:extLst>
          </p:cNvPr>
          <p:cNvSpPr txBox="1"/>
          <p:nvPr/>
        </p:nvSpPr>
        <p:spPr>
          <a:xfrm>
            <a:off x="900953" y="1580025"/>
            <a:ext cx="3065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Step one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BF719F-F6E4-E377-56B8-3EDD433B2728}"/>
              </a:ext>
            </a:extLst>
          </p:cNvPr>
          <p:cNvSpPr txBox="1"/>
          <p:nvPr/>
        </p:nvSpPr>
        <p:spPr>
          <a:xfrm>
            <a:off x="5064476" y="1593470"/>
            <a:ext cx="3065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Step two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C3B8DC-3B55-3B7B-B2E1-4CA7AA08E646}"/>
              </a:ext>
            </a:extLst>
          </p:cNvPr>
          <p:cNvSpPr txBox="1"/>
          <p:nvPr/>
        </p:nvSpPr>
        <p:spPr>
          <a:xfrm>
            <a:off x="698530" y="2009906"/>
            <a:ext cx="3470058" cy="233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Font typeface="Wingdings" pitchFamily="2" charset="2"/>
              <a:buChar char="v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Distribute the </a:t>
            </a:r>
            <a:r>
              <a:rPr lang="en-PT" sz="1050" b="1" dirty="0">
                <a:latin typeface="Krub Light" pitchFamily="2" charset="-34"/>
                <a:cs typeface="Krub Light" pitchFamily="2" charset="-34"/>
              </a:rPr>
              <a:t>US</a:t>
            </a:r>
            <a:r>
              <a:rPr lang="en-PT" sz="1050" dirty="0">
                <a:latin typeface="Krub Light" pitchFamily="2" charset="-34"/>
                <a:cs typeface="Krub Light" pitchFamily="2" charset="-34"/>
              </a:rPr>
              <a:t> in groups of two, regarding:</a:t>
            </a:r>
          </a:p>
          <a:p>
            <a:pPr marL="227013" indent="-227013" algn="just">
              <a:buFont typeface="Wingdings" pitchFamily="2" charset="2"/>
              <a:buChar char="v"/>
            </a:pPr>
            <a:endParaRPr lang="en-PT" sz="105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Sequence Diagram</a:t>
            </a: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Class Diagram</a:t>
            </a: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User Case</a:t>
            </a:r>
          </a:p>
          <a:p>
            <a:pPr marL="227013" indent="-227013" algn="just">
              <a:buFont typeface="Wingdings" pitchFamily="2" charset="2"/>
              <a:buChar char="v"/>
            </a:pPr>
            <a:endParaRPr lang="en-PT" sz="1050" dirty="0"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Font typeface="Wingdings" pitchFamily="2" charset="2"/>
              <a:buChar char="v"/>
            </a:pPr>
            <a:r>
              <a:rPr lang="en-PT" sz="1050" b="1" dirty="0">
                <a:latin typeface="Krub Light" pitchFamily="2" charset="-34"/>
                <a:cs typeface="Krub Light" pitchFamily="2" charset="-34"/>
              </a:rPr>
              <a:t>Goals:</a:t>
            </a:r>
          </a:p>
          <a:p>
            <a:pPr marL="227013" indent="-227013" algn="just">
              <a:buFont typeface="Wingdings" pitchFamily="2" charset="2"/>
              <a:buChar char="v"/>
            </a:pPr>
            <a:endParaRPr lang="en-PT" sz="1050" dirty="0">
              <a:latin typeface="Krub Light" pitchFamily="2" charset="-34"/>
              <a:cs typeface="Krub Light" pitchFamily="2" charset="-34"/>
            </a:endParaRP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Analyze and manage the US</a:t>
            </a: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Confirm t</a:t>
            </a:r>
            <a:r>
              <a:rPr lang="en-GB" sz="1050" dirty="0">
                <a:latin typeface="Krub Light" pitchFamily="2" charset="-34"/>
                <a:cs typeface="Krub Light" pitchFamily="2" charset="-34"/>
              </a:rPr>
              <a:t>he</a:t>
            </a:r>
            <a:r>
              <a:rPr lang="en-PT" sz="1050" dirty="0">
                <a:latin typeface="Krub Light" pitchFamily="2" charset="-34"/>
                <a:cs typeface="Krub Light" pitchFamily="2" charset="-34"/>
              </a:rPr>
              <a:t> classes for future development</a:t>
            </a:r>
          </a:p>
          <a:p>
            <a:pPr marL="493713" lvl="4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Standardization of the Diagrams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121314-4FB3-F23B-5388-BD9E197911A0}"/>
              </a:ext>
            </a:extLst>
          </p:cNvPr>
          <p:cNvSpPr txBox="1"/>
          <p:nvPr/>
        </p:nvSpPr>
        <p:spPr>
          <a:xfrm>
            <a:off x="4839886" y="2009906"/>
            <a:ext cx="3515107" cy="2758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 algn="just">
              <a:buFont typeface="Wingdings" pitchFamily="2" charset="2"/>
              <a:buChar char="v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New distribution of the </a:t>
            </a:r>
            <a:r>
              <a:rPr lang="en-PT" sz="1050" b="1" dirty="0">
                <a:latin typeface="Krub Light" pitchFamily="2" charset="-34"/>
                <a:cs typeface="Krub Light" pitchFamily="2" charset="-34"/>
              </a:rPr>
              <a:t>US</a:t>
            </a:r>
            <a:r>
              <a:rPr lang="en-PT" sz="1050" dirty="0">
                <a:latin typeface="Krub Light" pitchFamily="2" charset="-34"/>
                <a:cs typeface="Krub Light" pitchFamily="2" charset="-34"/>
              </a:rPr>
              <a:t> for implementation:</a:t>
            </a:r>
          </a:p>
          <a:p>
            <a:pPr marL="227013" indent="-227013" algn="just">
              <a:buFont typeface="Wingdings" pitchFamily="2" charset="2"/>
              <a:buChar char="v"/>
            </a:pPr>
            <a:endParaRPr lang="en-PT" sz="105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Each member will implement a US that had already been assigned to them</a:t>
            </a: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Each member will also implement a US from another Actor</a:t>
            </a:r>
          </a:p>
          <a:p>
            <a:pPr algn="just"/>
            <a:endParaRPr lang="en-PT" sz="1050" dirty="0">
              <a:latin typeface="Krub Light" pitchFamily="2" charset="-34"/>
              <a:cs typeface="Krub Light" pitchFamily="2" charset="-34"/>
            </a:endParaRPr>
          </a:p>
          <a:p>
            <a:pPr marL="227013" indent="-227013" algn="just">
              <a:buFont typeface="Wingdings" pitchFamily="2" charset="2"/>
              <a:buChar char="v"/>
            </a:pPr>
            <a:r>
              <a:rPr lang="en-PT" sz="1050" b="1" dirty="0">
                <a:latin typeface="Krub Light" pitchFamily="2" charset="-34"/>
                <a:cs typeface="Krub Light" pitchFamily="2" charset="-34"/>
              </a:rPr>
              <a:t>Goals:</a:t>
            </a:r>
          </a:p>
          <a:p>
            <a:pPr marL="227013" indent="-227013" algn="just">
              <a:buFont typeface="Wingdings" pitchFamily="2" charset="2"/>
              <a:buChar char="v"/>
            </a:pPr>
            <a:endParaRPr lang="en-PT" sz="1050" dirty="0">
              <a:latin typeface="Krub Light" pitchFamily="2" charset="-34"/>
              <a:cs typeface="Krub Light" pitchFamily="2" charset="-34"/>
            </a:endParaRP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Reassure the global understanding of the project by all members</a:t>
            </a:r>
          </a:p>
          <a:p>
            <a:pPr marL="493713" indent="-2206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PT" sz="1050" dirty="0">
                <a:latin typeface="Krub Light" pitchFamily="2" charset="-34"/>
                <a:cs typeface="Krub Light" pitchFamily="2" charset="-34"/>
              </a:rPr>
              <a:t>Implement the US</a:t>
            </a:r>
          </a:p>
          <a:p>
            <a:pPr marL="227013" indent="-227013" algn="just">
              <a:buFont typeface="Wingdings" pitchFamily="2" charset="2"/>
              <a:buChar char="v"/>
            </a:pPr>
            <a:endParaRPr lang="en-PT" sz="1050" dirty="0">
              <a:latin typeface="Krub Light" pitchFamily="2" charset="-34"/>
              <a:cs typeface="Krub Light" pitchFamily="2" charset="-34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A888251-4187-8624-1FE0-83E3BEA1F3C0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3313382" y="4163144"/>
            <a:ext cx="775070" cy="77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116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EBE5F-3EF1-5CF8-30F5-37F6FB656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183386F-AF8F-A463-323F-0AAA1345AFC0}"/>
              </a:ext>
            </a:extLst>
          </p:cNvPr>
          <p:cNvSpPr/>
          <p:nvPr/>
        </p:nvSpPr>
        <p:spPr>
          <a:xfrm>
            <a:off x="758952" y="0"/>
            <a:ext cx="8357616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22F262A-2B82-3FF4-E893-EA07E1106B07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128C64-67F0-CE1F-12C2-AE228AC32A70}"/>
              </a:ext>
            </a:extLst>
          </p:cNvPr>
          <p:cNvSpPr txBox="1"/>
          <p:nvPr/>
        </p:nvSpPr>
        <p:spPr>
          <a:xfrm>
            <a:off x="1380744" y="212008"/>
            <a:ext cx="64377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IMPLEMENTATION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43602C-993E-8365-F6DF-4D7DB2DB747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087" y="23850"/>
            <a:ext cx="1029337" cy="10293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B91BF9E-B260-8101-1F17-117388025593}"/>
              </a:ext>
            </a:extLst>
          </p:cNvPr>
          <p:cNvSpPr txBox="1"/>
          <p:nvPr/>
        </p:nvSpPr>
        <p:spPr>
          <a:xfrm>
            <a:off x="2943176" y="1164227"/>
            <a:ext cx="3257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24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Factory Class</a:t>
            </a:r>
          </a:p>
        </p:txBody>
      </p:sp>
    </p:spTree>
    <p:extLst>
      <p:ext uri="{BB962C8B-B14F-4D97-AF65-F5344CB8AC3E}">
        <p14:creationId xmlns:p14="http://schemas.microsoft.com/office/powerpoint/2010/main" val="60150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81476-0E88-4040-B51F-552197852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E19CD7-B1BE-FFD7-2094-D76AA1E269F7}"/>
              </a:ext>
            </a:extLst>
          </p:cNvPr>
          <p:cNvSpPr/>
          <p:nvPr/>
        </p:nvSpPr>
        <p:spPr>
          <a:xfrm>
            <a:off x="758952" y="0"/>
            <a:ext cx="8357616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1F39C4D-E6F5-87EF-F9C9-82E41C65F79A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1008EF-CF7A-C5C1-D573-A35B50F69DDA}"/>
              </a:ext>
            </a:extLst>
          </p:cNvPr>
          <p:cNvSpPr txBox="1"/>
          <p:nvPr/>
        </p:nvSpPr>
        <p:spPr>
          <a:xfrm>
            <a:off x="1380744" y="212008"/>
            <a:ext cx="64377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IMPLEMENTATION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0BF630-4D78-D9F9-514E-E6D1160EE25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087" y="23850"/>
            <a:ext cx="1029337" cy="10293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19ADD61-0D31-5C1F-D8CB-49C92C47D754}"/>
              </a:ext>
            </a:extLst>
          </p:cNvPr>
          <p:cNvSpPr txBox="1"/>
          <p:nvPr/>
        </p:nvSpPr>
        <p:spPr>
          <a:xfrm>
            <a:off x="2943176" y="1164227"/>
            <a:ext cx="3257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24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" pitchFamily="2" charset="-34"/>
                <a:cs typeface="Krub" pitchFamily="2" charset="-34"/>
              </a:rPr>
              <a:t>Mock Tests</a:t>
            </a:r>
          </a:p>
        </p:txBody>
      </p:sp>
    </p:spTree>
    <p:extLst>
      <p:ext uri="{BB962C8B-B14F-4D97-AF65-F5344CB8AC3E}">
        <p14:creationId xmlns:p14="http://schemas.microsoft.com/office/powerpoint/2010/main" val="4190664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DBCA1-311D-EC92-1EDD-700CC646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B43CA6-347C-9A3F-6AF8-0504DB32277C}"/>
              </a:ext>
            </a:extLst>
          </p:cNvPr>
          <p:cNvSpPr/>
          <p:nvPr/>
        </p:nvSpPr>
        <p:spPr>
          <a:xfrm>
            <a:off x="758952" y="0"/>
            <a:ext cx="8357616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54682C7-890C-8F3F-F78C-BF6B27CBB366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F24DFD-CD91-6E6C-F4C0-495807DC5AF3}"/>
              </a:ext>
            </a:extLst>
          </p:cNvPr>
          <p:cNvSpPr txBox="1"/>
          <p:nvPr/>
        </p:nvSpPr>
        <p:spPr>
          <a:xfrm>
            <a:off x="1380744" y="212008"/>
            <a:ext cx="4254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ACHIEVEMENTS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C938E7-603F-2D7E-015B-880E25792839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" y="81806"/>
            <a:ext cx="914890" cy="91489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D175555-C870-1ED2-A43C-5E783FC54E67}"/>
              </a:ext>
            </a:extLst>
          </p:cNvPr>
          <p:cNvSpPr/>
          <p:nvPr/>
        </p:nvSpPr>
        <p:spPr>
          <a:xfrm>
            <a:off x="615470" y="2325185"/>
            <a:ext cx="286963" cy="286963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32F36E-61FE-C878-9FE6-89CC49B6BB02}"/>
              </a:ext>
            </a:extLst>
          </p:cNvPr>
          <p:cNvSpPr/>
          <p:nvPr/>
        </p:nvSpPr>
        <p:spPr>
          <a:xfrm>
            <a:off x="604954" y="2828369"/>
            <a:ext cx="286963" cy="286963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634D14B-05C0-A742-651C-6237CE8AA774}"/>
              </a:ext>
            </a:extLst>
          </p:cNvPr>
          <p:cNvSpPr/>
          <p:nvPr/>
        </p:nvSpPr>
        <p:spPr>
          <a:xfrm>
            <a:off x="604955" y="3334388"/>
            <a:ext cx="286963" cy="286963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421DBE9-C7DA-7DFB-4202-8C3006C196BF}"/>
              </a:ext>
            </a:extLst>
          </p:cNvPr>
          <p:cNvSpPr/>
          <p:nvPr/>
        </p:nvSpPr>
        <p:spPr>
          <a:xfrm>
            <a:off x="615470" y="1819166"/>
            <a:ext cx="286963" cy="286963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B5C88FC-BFCC-5215-DF4C-098322DC0F16}"/>
              </a:ext>
            </a:extLst>
          </p:cNvPr>
          <p:cNvSpPr/>
          <p:nvPr/>
        </p:nvSpPr>
        <p:spPr>
          <a:xfrm>
            <a:off x="604954" y="3840407"/>
            <a:ext cx="286963" cy="286963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1B1F357-CA3A-EBE3-92D2-859D46433F94}"/>
              </a:ext>
            </a:extLst>
          </p:cNvPr>
          <p:cNvSpPr/>
          <p:nvPr/>
        </p:nvSpPr>
        <p:spPr>
          <a:xfrm>
            <a:off x="615470" y="4306515"/>
            <a:ext cx="286963" cy="286963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6CDC3A-9B9A-C596-8DB0-828B0808E869}"/>
              </a:ext>
            </a:extLst>
          </p:cNvPr>
          <p:cNvSpPr txBox="1"/>
          <p:nvPr/>
        </p:nvSpPr>
        <p:spPr>
          <a:xfrm>
            <a:off x="567479" y="4133765"/>
            <a:ext cx="532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2800" b="1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B29E4-4CD4-041C-AEA7-C0CFB9203A9F}"/>
              </a:ext>
            </a:extLst>
          </p:cNvPr>
          <p:cNvSpPr txBox="1"/>
          <p:nvPr/>
        </p:nvSpPr>
        <p:spPr>
          <a:xfrm>
            <a:off x="567479" y="3661580"/>
            <a:ext cx="532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2800" b="1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7BCEA6-893C-0467-3341-298E2C2B6DCE}"/>
              </a:ext>
            </a:extLst>
          </p:cNvPr>
          <p:cNvSpPr txBox="1"/>
          <p:nvPr/>
        </p:nvSpPr>
        <p:spPr>
          <a:xfrm>
            <a:off x="574974" y="3159407"/>
            <a:ext cx="532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2800" b="1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36D621-C6A1-6F24-003F-347C95ECFD36}"/>
              </a:ext>
            </a:extLst>
          </p:cNvPr>
          <p:cNvSpPr txBox="1"/>
          <p:nvPr/>
        </p:nvSpPr>
        <p:spPr>
          <a:xfrm>
            <a:off x="567479" y="2649739"/>
            <a:ext cx="532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2800" b="1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A4C070-6C4D-052C-371B-3C30DCCB4777}"/>
              </a:ext>
            </a:extLst>
          </p:cNvPr>
          <p:cNvSpPr txBox="1"/>
          <p:nvPr/>
        </p:nvSpPr>
        <p:spPr>
          <a:xfrm>
            <a:off x="567479" y="2155064"/>
            <a:ext cx="532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2800" b="1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2132B8-5767-23E9-507D-0F3FF3DCBA71}"/>
              </a:ext>
            </a:extLst>
          </p:cNvPr>
          <p:cNvSpPr txBox="1"/>
          <p:nvPr/>
        </p:nvSpPr>
        <p:spPr>
          <a:xfrm>
            <a:off x="567479" y="1637909"/>
            <a:ext cx="532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2800" b="1" dirty="0">
                <a:solidFill>
                  <a:srgbClr val="00B050"/>
                </a:solidFill>
              </a:rPr>
              <a:t>✓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83A43C-82AC-D848-7BC3-5511BFE21EA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002060">
                <a:tint val="45000"/>
                <a:satMod val="400000"/>
              </a:srgbClr>
            </a:duotone>
            <a:alphaModFix amt="5000"/>
          </a:blip>
          <a:stretch>
            <a:fillRect/>
          </a:stretch>
        </p:blipFill>
        <p:spPr>
          <a:xfrm rot="21305932" flipH="1">
            <a:off x="5577840" y="1499537"/>
            <a:ext cx="3601551" cy="36015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23C71F-8196-6DBB-0145-DC6B47698B87}"/>
              </a:ext>
            </a:extLst>
          </p:cNvPr>
          <p:cNvSpPr txBox="1"/>
          <p:nvPr/>
        </p:nvSpPr>
        <p:spPr>
          <a:xfrm>
            <a:off x="1099628" y="1836001"/>
            <a:ext cx="5496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Successfully</a:t>
            </a:r>
            <a:r>
              <a:rPr lang="en-GB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 created all </a:t>
            </a:r>
            <a:r>
              <a:rPr lang="en-GB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sequence</a:t>
            </a:r>
            <a:r>
              <a:rPr lang="en-GB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 and </a:t>
            </a:r>
            <a:r>
              <a:rPr lang="en-GB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class diagram</a:t>
            </a:r>
            <a:r>
              <a:rPr lang="en-GB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s for every User Story;</a:t>
            </a:r>
            <a:endParaRPr lang="en-PT" sz="1100" b="1" dirty="0">
              <a:solidFill>
                <a:schemeClr val="bg1"/>
              </a:solidFill>
              <a:latin typeface="Krub Light" pitchFamily="2" charset="-34"/>
              <a:cs typeface="Krub Light" pitchFamily="2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353C67-7E5E-D8A5-BE95-A251E5445F12}"/>
              </a:ext>
            </a:extLst>
          </p:cNvPr>
          <p:cNvSpPr txBox="1"/>
          <p:nvPr/>
        </p:nvSpPr>
        <p:spPr>
          <a:xfrm>
            <a:off x="1107123" y="2342642"/>
            <a:ext cx="6860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Refined</a:t>
            </a:r>
            <a:r>
              <a:rPr lang="en-GB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 and </a:t>
            </a:r>
            <a:r>
              <a:rPr lang="en-GB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restructured</a:t>
            </a:r>
            <a:r>
              <a:rPr lang="en-GB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 the </a:t>
            </a:r>
            <a:r>
              <a:rPr lang="en-GB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Domain Model</a:t>
            </a:r>
            <a:r>
              <a:rPr lang="en-GB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, achieving a clearer and more complete architecture;</a:t>
            </a:r>
            <a:endParaRPr lang="en-PT" sz="1100" b="1" dirty="0">
              <a:solidFill>
                <a:schemeClr val="bg1"/>
              </a:solidFill>
              <a:latin typeface="Krub Light" pitchFamily="2" charset="-34"/>
              <a:cs typeface="Krub Light" pitchFamily="2" charset="-3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BBD6FC-F4A6-6292-EF54-1A39C089CDF9}"/>
              </a:ext>
            </a:extLst>
          </p:cNvPr>
          <p:cNvSpPr txBox="1"/>
          <p:nvPr/>
        </p:nvSpPr>
        <p:spPr>
          <a:xfrm>
            <a:off x="1107124" y="2840344"/>
            <a:ext cx="47234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Implemented</a:t>
            </a:r>
            <a:r>
              <a:rPr lang="en-GB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 approximately </a:t>
            </a:r>
            <a:r>
              <a:rPr lang="en-GB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80%</a:t>
            </a:r>
            <a:r>
              <a:rPr lang="en-GB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 of the defined user stories;</a:t>
            </a:r>
            <a:endParaRPr lang="en-PT" sz="1100" b="1" dirty="0">
              <a:solidFill>
                <a:schemeClr val="bg1"/>
              </a:solidFill>
              <a:latin typeface="Krub Light" pitchFamily="2" charset="-34"/>
              <a:cs typeface="Krub Light" pitchFamily="2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39EAAA-04D3-3359-2E15-2D0399FBF780}"/>
              </a:ext>
            </a:extLst>
          </p:cNvPr>
          <p:cNvSpPr txBox="1"/>
          <p:nvPr/>
        </p:nvSpPr>
        <p:spPr>
          <a:xfrm>
            <a:off x="1107124" y="3353264"/>
            <a:ext cx="47234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Improved time management </a:t>
            </a:r>
            <a:r>
              <a:rPr lang="en-GB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skills throughout the second sprint;</a:t>
            </a:r>
            <a:endParaRPr lang="en-PT" sz="1100" b="1" dirty="0">
              <a:solidFill>
                <a:schemeClr val="bg1"/>
              </a:solidFill>
              <a:latin typeface="Krub Light" pitchFamily="2" charset="-34"/>
              <a:cs typeface="Krub Light" pitchFamily="2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103AFA-FB7D-51F9-07CA-1FC59887A23D}"/>
              </a:ext>
            </a:extLst>
          </p:cNvPr>
          <p:cNvSpPr txBox="1"/>
          <p:nvPr/>
        </p:nvSpPr>
        <p:spPr>
          <a:xfrm>
            <a:off x="1107123" y="3850254"/>
            <a:ext cx="7062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Acquired </a:t>
            </a:r>
            <a:r>
              <a:rPr lang="en-GB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more knowledge regarding </a:t>
            </a:r>
            <a:r>
              <a:rPr lang="en-GB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good programming practices</a:t>
            </a:r>
            <a:r>
              <a:rPr lang="en-GB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, </a:t>
            </a:r>
            <a:r>
              <a:rPr lang="en-GB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project organization</a:t>
            </a:r>
            <a:r>
              <a:rPr lang="en-GB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, and </a:t>
            </a:r>
            <a:r>
              <a:rPr lang="en-GB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teamwork</a:t>
            </a:r>
            <a:r>
              <a:rPr lang="en-GB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;</a:t>
            </a:r>
            <a:endParaRPr lang="en-PT" sz="1000" dirty="0">
              <a:solidFill>
                <a:schemeClr val="bg1"/>
              </a:solidFill>
              <a:latin typeface="Krub Light" pitchFamily="2" charset="-34"/>
              <a:cs typeface="Krub Light" pitchFamily="2" charset="-3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8C67E2-60B5-06B1-E2E6-F9A9E9585C32}"/>
              </a:ext>
            </a:extLst>
          </p:cNvPr>
          <p:cNvSpPr txBox="1"/>
          <p:nvPr/>
        </p:nvSpPr>
        <p:spPr>
          <a:xfrm>
            <a:off x="1099628" y="4322439"/>
            <a:ext cx="70700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Established</a:t>
            </a:r>
            <a:r>
              <a:rPr lang="en-GB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 clear </a:t>
            </a:r>
            <a:r>
              <a:rPr lang="en-GB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deadlines</a:t>
            </a:r>
            <a:r>
              <a:rPr lang="en-GB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 for user story implementation, enabling </a:t>
            </a:r>
            <a:r>
              <a:rPr lang="en-GB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better prioritization</a:t>
            </a:r>
            <a:r>
              <a:rPr lang="en-GB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 and </a:t>
            </a:r>
            <a:r>
              <a:rPr lang="en-GB" sz="11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workflow management</a:t>
            </a:r>
            <a:r>
              <a:rPr lang="en-GB" sz="11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.</a:t>
            </a:r>
            <a:endParaRPr lang="en-PT" sz="1000" dirty="0">
              <a:solidFill>
                <a:schemeClr val="bg1"/>
              </a:solidFill>
              <a:latin typeface="Krub Light" pitchFamily="2" charset="-34"/>
              <a:cs typeface="Krub Ligh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9256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" grpId="0"/>
      <p:bldP spid="7" grpId="0"/>
      <p:bldP spid="8" grpId="0"/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7B0771-BA2E-03E3-ED8B-3D4111EB8779}"/>
              </a:ext>
            </a:extLst>
          </p:cNvPr>
          <p:cNvSpPr/>
          <p:nvPr/>
        </p:nvSpPr>
        <p:spPr>
          <a:xfrm>
            <a:off x="758952" y="0"/>
            <a:ext cx="8357616" cy="108813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F31B93-C3E5-3159-8471-8FAB4458A605}"/>
              </a:ext>
            </a:extLst>
          </p:cNvPr>
          <p:cNvSpPr/>
          <p:nvPr/>
        </p:nvSpPr>
        <p:spPr>
          <a:xfrm>
            <a:off x="-429768" y="-330161"/>
            <a:ext cx="1737360" cy="173736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D0E3A-43F4-8212-2F59-CF553513EC8B}"/>
              </a:ext>
            </a:extLst>
          </p:cNvPr>
          <p:cNvSpPr txBox="1"/>
          <p:nvPr/>
        </p:nvSpPr>
        <p:spPr>
          <a:xfrm>
            <a:off x="1380744" y="212008"/>
            <a:ext cx="4254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40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rub SemiBold" pitchFamily="2" charset="-34"/>
                <a:cs typeface="Krub SemiBold" pitchFamily="2" charset="-34"/>
              </a:rPr>
              <a:t>WHAT’S NEXT?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B6A26E-5FE2-6627-5ADB-621E3769894F}"/>
              </a:ext>
            </a:extLst>
          </p:cNvPr>
          <p:cNvSpPr txBox="1"/>
          <p:nvPr/>
        </p:nvSpPr>
        <p:spPr>
          <a:xfrm>
            <a:off x="1058641" y="1846177"/>
            <a:ext cx="5496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Finish the implementation </a:t>
            </a:r>
            <a:r>
              <a:rPr lang="en-GB" sz="12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of the remaining user stories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BCF148-CD2F-2132-8313-7A7E5D5F359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164" y="100542"/>
            <a:ext cx="950485" cy="9504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99846E-4A85-4862-5497-B40D43017B8B}"/>
              </a:ext>
            </a:extLst>
          </p:cNvPr>
          <p:cNvSpPr txBox="1"/>
          <p:nvPr/>
        </p:nvSpPr>
        <p:spPr>
          <a:xfrm>
            <a:off x="1058639" y="3928632"/>
            <a:ext cx="5496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Increase</a:t>
            </a:r>
            <a:r>
              <a:rPr lang="en-GB" sz="12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 cross-review of </a:t>
            </a:r>
            <a:r>
              <a:rPr lang="en-GB" sz="12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code</a:t>
            </a:r>
            <a:r>
              <a:rPr lang="en-GB" sz="12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 and </a:t>
            </a:r>
            <a:r>
              <a:rPr lang="en-GB" sz="12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tests </a:t>
            </a:r>
            <a:r>
              <a:rPr lang="en-GB" sz="12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among team members</a:t>
            </a:r>
            <a:endParaRPr lang="en-PT" sz="1200" dirty="0">
              <a:solidFill>
                <a:schemeClr val="bg1"/>
              </a:solidFill>
              <a:latin typeface="Krub Light" pitchFamily="2" charset="-34"/>
              <a:cs typeface="Krub Light" pitchFamily="2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E0D92D-6952-3981-53F5-10254D3C59CC}"/>
              </a:ext>
            </a:extLst>
          </p:cNvPr>
          <p:cNvSpPr txBox="1"/>
          <p:nvPr/>
        </p:nvSpPr>
        <p:spPr>
          <a:xfrm>
            <a:off x="1058638" y="2524777"/>
            <a:ext cx="5496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Strengthen communication</a:t>
            </a:r>
            <a:r>
              <a:rPr lang="en-GB" sz="12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 during implementation phases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EAE39B-51A4-3C32-E159-EA189F9F6B75}"/>
              </a:ext>
            </a:extLst>
          </p:cNvPr>
          <p:cNvSpPr txBox="1"/>
          <p:nvPr/>
        </p:nvSpPr>
        <p:spPr>
          <a:xfrm>
            <a:off x="1058641" y="3229702"/>
            <a:ext cx="5496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Maintain </a:t>
            </a:r>
            <a:r>
              <a:rPr lang="en-GB" sz="12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consistent coding</a:t>
            </a:r>
            <a:r>
              <a:rPr lang="en-GB" sz="12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 and </a:t>
            </a:r>
            <a:r>
              <a:rPr lang="en-GB" sz="1200" b="1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diagram standards </a:t>
            </a:r>
            <a:r>
              <a:rPr lang="en-GB" sz="1200" dirty="0">
                <a:solidFill>
                  <a:schemeClr val="bg1"/>
                </a:solidFill>
                <a:latin typeface="Krub Light" pitchFamily="2" charset="-34"/>
                <a:cs typeface="Krub Light" pitchFamily="2" charset="-34"/>
              </a:rPr>
              <a:t>across the team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62597F9-4305-765A-E875-7AC2066EFB5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17220" y="1219201"/>
            <a:ext cx="3399348" cy="4077922"/>
          </a:xfrm>
          <a:prstGeom prst="rect">
            <a:avLst/>
          </a:prstGeom>
        </p:spPr>
      </p:pic>
      <p:sp>
        <p:nvSpPr>
          <p:cNvPr id="20" name="Striped Right Arrow 19">
            <a:extLst>
              <a:ext uri="{FF2B5EF4-FFF2-40B4-BE49-F238E27FC236}">
                <a16:creationId xmlns:a16="http://schemas.microsoft.com/office/drawing/2014/main" id="{C54B97A7-BF7D-0E47-4DCF-9514D83909C2}"/>
              </a:ext>
            </a:extLst>
          </p:cNvPr>
          <p:cNvSpPr/>
          <p:nvPr/>
        </p:nvSpPr>
        <p:spPr>
          <a:xfrm>
            <a:off x="678426" y="1868130"/>
            <a:ext cx="321223" cy="205886"/>
          </a:xfrm>
          <a:prstGeom prst="striped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1" name="Striped Right Arrow 20">
            <a:extLst>
              <a:ext uri="{FF2B5EF4-FFF2-40B4-BE49-F238E27FC236}">
                <a16:creationId xmlns:a16="http://schemas.microsoft.com/office/drawing/2014/main" id="{D1329E08-11F0-7E9D-F43B-66AAFE7A2E1B}"/>
              </a:ext>
            </a:extLst>
          </p:cNvPr>
          <p:cNvSpPr/>
          <p:nvPr/>
        </p:nvSpPr>
        <p:spPr>
          <a:xfrm>
            <a:off x="683339" y="2560306"/>
            <a:ext cx="321223" cy="205886"/>
          </a:xfrm>
          <a:prstGeom prst="striped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2" name="Striped Right Arrow 21">
            <a:extLst>
              <a:ext uri="{FF2B5EF4-FFF2-40B4-BE49-F238E27FC236}">
                <a16:creationId xmlns:a16="http://schemas.microsoft.com/office/drawing/2014/main" id="{A41025F5-0E87-3F1C-7517-B4BAA7B905B3}"/>
              </a:ext>
            </a:extLst>
          </p:cNvPr>
          <p:cNvSpPr/>
          <p:nvPr/>
        </p:nvSpPr>
        <p:spPr>
          <a:xfrm>
            <a:off x="704677" y="3252482"/>
            <a:ext cx="321223" cy="205886"/>
          </a:xfrm>
          <a:prstGeom prst="striped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3" name="Striped Right Arrow 22">
            <a:extLst>
              <a:ext uri="{FF2B5EF4-FFF2-40B4-BE49-F238E27FC236}">
                <a16:creationId xmlns:a16="http://schemas.microsoft.com/office/drawing/2014/main" id="{EEFF073A-EFCA-72AD-0677-BB6D782D8510}"/>
              </a:ext>
            </a:extLst>
          </p:cNvPr>
          <p:cNvSpPr/>
          <p:nvPr/>
        </p:nvSpPr>
        <p:spPr>
          <a:xfrm>
            <a:off x="709590" y="3944658"/>
            <a:ext cx="321223" cy="205886"/>
          </a:xfrm>
          <a:prstGeom prst="striped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4" name="Striped Right Arrow 23">
            <a:extLst>
              <a:ext uri="{FF2B5EF4-FFF2-40B4-BE49-F238E27FC236}">
                <a16:creationId xmlns:a16="http://schemas.microsoft.com/office/drawing/2014/main" id="{9BC41CF7-DAAB-6C8F-38E3-8B066CE6B162}"/>
              </a:ext>
            </a:extLst>
          </p:cNvPr>
          <p:cNvSpPr/>
          <p:nvPr/>
        </p:nvSpPr>
        <p:spPr>
          <a:xfrm>
            <a:off x="684969" y="1868130"/>
            <a:ext cx="321223" cy="205886"/>
          </a:xfrm>
          <a:prstGeom prst="striped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5" name="Striped Right Arrow 24">
            <a:extLst>
              <a:ext uri="{FF2B5EF4-FFF2-40B4-BE49-F238E27FC236}">
                <a16:creationId xmlns:a16="http://schemas.microsoft.com/office/drawing/2014/main" id="{01D9FCD0-48A3-F39D-D9D2-ADA70AA950EA}"/>
              </a:ext>
            </a:extLst>
          </p:cNvPr>
          <p:cNvSpPr/>
          <p:nvPr/>
        </p:nvSpPr>
        <p:spPr>
          <a:xfrm>
            <a:off x="685948" y="2560764"/>
            <a:ext cx="321223" cy="205886"/>
          </a:xfrm>
          <a:prstGeom prst="striped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6" name="Striped Right Arrow 25">
            <a:extLst>
              <a:ext uri="{FF2B5EF4-FFF2-40B4-BE49-F238E27FC236}">
                <a16:creationId xmlns:a16="http://schemas.microsoft.com/office/drawing/2014/main" id="{30150F04-6D07-4FDA-DBA6-499892C4EEE4}"/>
              </a:ext>
            </a:extLst>
          </p:cNvPr>
          <p:cNvSpPr/>
          <p:nvPr/>
        </p:nvSpPr>
        <p:spPr>
          <a:xfrm>
            <a:off x="711220" y="3252482"/>
            <a:ext cx="321223" cy="205886"/>
          </a:xfrm>
          <a:prstGeom prst="striped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7" name="Striped Right Arrow 26">
            <a:extLst>
              <a:ext uri="{FF2B5EF4-FFF2-40B4-BE49-F238E27FC236}">
                <a16:creationId xmlns:a16="http://schemas.microsoft.com/office/drawing/2014/main" id="{68D3F6FB-819A-A764-A53F-A7564A84C768}"/>
              </a:ext>
            </a:extLst>
          </p:cNvPr>
          <p:cNvSpPr/>
          <p:nvPr/>
        </p:nvSpPr>
        <p:spPr>
          <a:xfrm>
            <a:off x="716133" y="3944658"/>
            <a:ext cx="321223" cy="205886"/>
          </a:xfrm>
          <a:prstGeom prst="striped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38105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12865-8DC8-228A-EC61-C8AE7C433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A81CC6-4926-2E79-97EF-FE178D99333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97B869A-E25E-6E4C-DDD2-3B96DE3FEF6A}"/>
              </a:ext>
            </a:extLst>
          </p:cNvPr>
          <p:cNvGrpSpPr/>
          <p:nvPr/>
        </p:nvGrpSpPr>
        <p:grpSpPr>
          <a:xfrm>
            <a:off x="1133210" y="579534"/>
            <a:ext cx="6858418" cy="4563966"/>
            <a:chOff x="950332" y="579534"/>
            <a:chExt cx="6858418" cy="456396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1EBCF1B-9F64-BF21-52C2-4B2B81ACD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20000"/>
            </a:blip>
            <a:stretch>
              <a:fillRect/>
            </a:stretch>
          </p:blipFill>
          <p:spPr>
            <a:xfrm>
              <a:off x="950332" y="579534"/>
              <a:ext cx="4563966" cy="456396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2DE3A77-066F-68B7-A740-9CDE2D795FCD}"/>
                </a:ext>
              </a:extLst>
            </p:cNvPr>
            <p:cNvSpPr/>
            <p:nvPr/>
          </p:nvSpPr>
          <p:spPr>
            <a:xfrm>
              <a:off x="5152446" y="1844703"/>
              <a:ext cx="2496710" cy="16061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pic>
          <p:nvPicPr>
            <p:cNvPr id="8" name="Picture 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793AC92-5FE4-4063-064D-13A2DCC43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55838" y="1334907"/>
              <a:ext cx="3252912" cy="3252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7313806"/>
      </p:ext>
    </p:extLst>
  </p:cSld>
  <p:clrMapOvr>
    <a:masterClrMapping/>
  </p:clrMapOvr>
</p:sld>
</file>

<file path=ppt/theme/theme1.xml><?xml version="1.0" encoding="utf-8"?>
<a:theme xmlns:a="http://schemas.openxmlformats.org/drawingml/2006/main" name="Creative Startup Pitch Deck">
  <a:themeElements>
    <a:clrScheme name="Simple Light">
      <a:dk1>
        <a:srgbClr val="FFFFFF"/>
      </a:dk1>
      <a:lt1>
        <a:srgbClr val="132644"/>
      </a:lt1>
      <a:dk2>
        <a:srgbClr val="1645D3"/>
      </a:dk2>
      <a:lt2>
        <a:srgbClr val="8AC1DC"/>
      </a:lt2>
      <a:accent1>
        <a:srgbClr val="E0FE68"/>
      </a:accent1>
      <a:accent2>
        <a:srgbClr val="9900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27042</TotalTime>
  <Words>1007</Words>
  <Application>Microsoft Macintosh PowerPoint</Application>
  <PresentationFormat>On-screen Show (16:9)</PresentationFormat>
  <Paragraphs>282</Paragraphs>
  <Slides>23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Krona One</vt:lpstr>
      <vt:lpstr>Krub</vt:lpstr>
      <vt:lpstr>Krub SemiBold</vt:lpstr>
      <vt:lpstr>Wingdings</vt:lpstr>
      <vt:lpstr>Arimo</vt:lpstr>
      <vt:lpstr>Krub Light</vt:lpstr>
      <vt:lpstr>Creative Startup Pitch Deck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Roger Paixão Marques</cp:lastModifiedBy>
  <cp:revision>22</cp:revision>
  <dcterms:modified xsi:type="dcterms:W3CDTF">2026-03-09T11:10:21Z</dcterms:modified>
</cp:coreProperties>
</file>